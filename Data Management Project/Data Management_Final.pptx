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2" r:id="rId2"/>
    <p:sldId id="258" r:id="rId3"/>
    <p:sldId id="260" r:id="rId4"/>
    <p:sldId id="259" r:id="rId5"/>
    <p:sldId id="261" r:id="rId6"/>
    <p:sldId id="263" r:id="rId7"/>
    <p:sldId id="280" r:id="rId8"/>
    <p:sldId id="264" r:id="rId9"/>
    <p:sldId id="266" r:id="rId10"/>
    <p:sldId id="269" r:id="rId11"/>
    <p:sldId id="268" r:id="rId12"/>
    <p:sldId id="276" r:id="rId13"/>
    <p:sldId id="277" r:id="rId14"/>
    <p:sldId id="274" r:id="rId15"/>
    <p:sldId id="278" r:id="rId16"/>
    <p:sldId id="275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A3C12-8DE0-414A-8859-B58879AC6A4C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87DF5-3A04-4F25-B7F0-48303C222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11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87DF5-3A04-4F25-B7F0-48303C2221B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1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87DF5-3A04-4F25-B7F0-48303C2221B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87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13" y="833830"/>
            <a:ext cx="5864860" cy="5191125"/>
          </a:xfrm>
          <a:custGeom>
            <a:avLst/>
            <a:gdLst/>
            <a:ahLst/>
            <a:cxnLst/>
            <a:rect l="l" t="t" r="r" b="b"/>
            <a:pathLst>
              <a:path w="5864860" h="5191125">
                <a:moveTo>
                  <a:pt x="5864568" y="3400628"/>
                </a:moveTo>
                <a:lnTo>
                  <a:pt x="5850458" y="3390989"/>
                </a:lnTo>
                <a:lnTo>
                  <a:pt x="5831243" y="3377882"/>
                </a:lnTo>
                <a:lnTo>
                  <a:pt x="5831243" y="3395154"/>
                </a:lnTo>
                <a:lnTo>
                  <a:pt x="5660644" y="3443122"/>
                </a:lnTo>
                <a:lnTo>
                  <a:pt x="5669343" y="3284639"/>
                </a:lnTo>
                <a:lnTo>
                  <a:pt x="5831243" y="3395154"/>
                </a:lnTo>
                <a:lnTo>
                  <a:pt x="5831243" y="3377882"/>
                </a:lnTo>
                <a:lnTo>
                  <a:pt x="5670258" y="3268002"/>
                </a:lnTo>
                <a:lnTo>
                  <a:pt x="5786780" y="1144193"/>
                </a:lnTo>
                <a:lnTo>
                  <a:pt x="5778601" y="1144193"/>
                </a:lnTo>
                <a:lnTo>
                  <a:pt x="5772493" y="1144193"/>
                </a:lnTo>
                <a:lnTo>
                  <a:pt x="5656440" y="3258566"/>
                </a:lnTo>
                <a:lnTo>
                  <a:pt x="5655526" y="3257943"/>
                </a:lnTo>
                <a:lnTo>
                  <a:pt x="5655526" y="3275215"/>
                </a:lnTo>
                <a:lnTo>
                  <a:pt x="5646077" y="3447211"/>
                </a:lnTo>
                <a:lnTo>
                  <a:pt x="5645251" y="3447453"/>
                </a:lnTo>
                <a:lnTo>
                  <a:pt x="5645251" y="3462286"/>
                </a:lnTo>
                <a:lnTo>
                  <a:pt x="5562917" y="4962271"/>
                </a:lnTo>
                <a:lnTo>
                  <a:pt x="4371187" y="4280979"/>
                </a:lnTo>
                <a:lnTo>
                  <a:pt x="5025314" y="4372724"/>
                </a:lnTo>
                <a:lnTo>
                  <a:pt x="5024412" y="4365218"/>
                </a:lnTo>
                <a:lnTo>
                  <a:pt x="5009007" y="4236148"/>
                </a:lnTo>
                <a:lnTo>
                  <a:pt x="5009007" y="4356049"/>
                </a:lnTo>
                <a:lnTo>
                  <a:pt x="4337812" y="4261891"/>
                </a:lnTo>
                <a:lnTo>
                  <a:pt x="4299826" y="4240187"/>
                </a:lnTo>
                <a:lnTo>
                  <a:pt x="4299826" y="4256570"/>
                </a:lnTo>
                <a:lnTo>
                  <a:pt x="3905110" y="4201198"/>
                </a:lnTo>
                <a:lnTo>
                  <a:pt x="4017187" y="4094988"/>
                </a:lnTo>
                <a:lnTo>
                  <a:pt x="4299826" y="4256570"/>
                </a:lnTo>
                <a:lnTo>
                  <a:pt x="4299826" y="4240187"/>
                </a:lnTo>
                <a:lnTo>
                  <a:pt x="4027970" y="4084764"/>
                </a:lnTo>
                <a:lnTo>
                  <a:pt x="4279735" y="3846207"/>
                </a:lnTo>
                <a:lnTo>
                  <a:pt x="4926419" y="3664394"/>
                </a:lnTo>
                <a:lnTo>
                  <a:pt x="5009007" y="4356049"/>
                </a:lnTo>
                <a:lnTo>
                  <a:pt x="5009007" y="4236148"/>
                </a:lnTo>
                <a:lnTo>
                  <a:pt x="4940300" y="3660483"/>
                </a:lnTo>
                <a:lnTo>
                  <a:pt x="5645251" y="3462286"/>
                </a:lnTo>
                <a:lnTo>
                  <a:pt x="5645251" y="3447453"/>
                </a:lnTo>
                <a:lnTo>
                  <a:pt x="4938585" y="3646144"/>
                </a:lnTo>
                <a:lnTo>
                  <a:pt x="4924704" y="3529863"/>
                </a:lnTo>
                <a:lnTo>
                  <a:pt x="4924704" y="3650043"/>
                </a:lnTo>
                <a:lnTo>
                  <a:pt x="4301972" y="3825138"/>
                </a:lnTo>
                <a:lnTo>
                  <a:pt x="4880191" y="3277247"/>
                </a:lnTo>
                <a:lnTo>
                  <a:pt x="4924704" y="3650043"/>
                </a:lnTo>
                <a:lnTo>
                  <a:pt x="4924704" y="3529863"/>
                </a:lnTo>
                <a:lnTo>
                  <a:pt x="4893094" y="3265030"/>
                </a:lnTo>
                <a:lnTo>
                  <a:pt x="5206085" y="2968447"/>
                </a:lnTo>
                <a:lnTo>
                  <a:pt x="5655526" y="3275215"/>
                </a:lnTo>
                <a:lnTo>
                  <a:pt x="5655526" y="3257943"/>
                </a:lnTo>
                <a:lnTo>
                  <a:pt x="5216677" y="2958414"/>
                </a:lnTo>
                <a:lnTo>
                  <a:pt x="5464657" y="2723438"/>
                </a:lnTo>
                <a:lnTo>
                  <a:pt x="5467070" y="2721152"/>
                </a:lnTo>
                <a:lnTo>
                  <a:pt x="5463286" y="2714688"/>
                </a:lnTo>
                <a:lnTo>
                  <a:pt x="5449074" y="2690406"/>
                </a:lnTo>
                <a:lnTo>
                  <a:pt x="5449074" y="2718701"/>
                </a:lnTo>
                <a:lnTo>
                  <a:pt x="5448897" y="2718701"/>
                </a:lnTo>
                <a:lnTo>
                  <a:pt x="5449074" y="2718701"/>
                </a:lnTo>
                <a:lnTo>
                  <a:pt x="5449074" y="2690406"/>
                </a:lnTo>
                <a:lnTo>
                  <a:pt x="5448998" y="2690279"/>
                </a:lnTo>
                <a:lnTo>
                  <a:pt x="5448998" y="2718587"/>
                </a:lnTo>
                <a:lnTo>
                  <a:pt x="5204599" y="2950172"/>
                </a:lnTo>
                <a:lnTo>
                  <a:pt x="5194008" y="2942945"/>
                </a:lnTo>
                <a:lnTo>
                  <a:pt x="5194008" y="2960205"/>
                </a:lnTo>
                <a:lnTo>
                  <a:pt x="4890973" y="3247339"/>
                </a:lnTo>
                <a:lnTo>
                  <a:pt x="4878082" y="3139338"/>
                </a:lnTo>
                <a:lnTo>
                  <a:pt x="4878082" y="3259569"/>
                </a:lnTo>
                <a:lnTo>
                  <a:pt x="4272432" y="3833444"/>
                </a:lnTo>
                <a:lnTo>
                  <a:pt x="4250194" y="3839705"/>
                </a:lnTo>
                <a:lnTo>
                  <a:pt x="4250194" y="3854513"/>
                </a:lnTo>
                <a:lnTo>
                  <a:pt x="4015016" y="4077360"/>
                </a:lnTo>
                <a:lnTo>
                  <a:pt x="4004221" y="4071201"/>
                </a:lnTo>
                <a:lnTo>
                  <a:pt x="4004221" y="4087584"/>
                </a:lnTo>
                <a:lnTo>
                  <a:pt x="3887012" y="4198658"/>
                </a:lnTo>
                <a:lnTo>
                  <a:pt x="3873766" y="4196804"/>
                </a:lnTo>
                <a:lnTo>
                  <a:pt x="3873766" y="4211205"/>
                </a:lnTo>
                <a:lnTo>
                  <a:pt x="2867088" y="5165077"/>
                </a:lnTo>
                <a:lnTo>
                  <a:pt x="2496235" y="4017988"/>
                </a:lnTo>
                <a:lnTo>
                  <a:pt x="3873766" y="4211205"/>
                </a:lnTo>
                <a:lnTo>
                  <a:pt x="3873766" y="4196804"/>
                </a:lnTo>
                <a:lnTo>
                  <a:pt x="2491346" y="4002875"/>
                </a:lnTo>
                <a:lnTo>
                  <a:pt x="2475687" y="3954449"/>
                </a:lnTo>
                <a:lnTo>
                  <a:pt x="2475687" y="4000677"/>
                </a:lnTo>
                <a:lnTo>
                  <a:pt x="2071166" y="3943934"/>
                </a:lnTo>
                <a:lnTo>
                  <a:pt x="2407183" y="3788803"/>
                </a:lnTo>
                <a:lnTo>
                  <a:pt x="2475687" y="4000677"/>
                </a:lnTo>
                <a:lnTo>
                  <a:pt x="2475687" y="3954449"/>
                </a:lnTo>
                <a:lnTo>
                  <a:pt x="2420188" y="3782809"/>
                </a:lnTo>
                <a:lnTo>
                  <a:pt x="3001568" y="3514394"/>
                </a:lnTo>
                <a:lnTo>
                  <a:pt x="3731971" y="3931945"/>
                </a:lnTo>
                <a:lnTo>
                  <a:pt x="3729482" y="4000677"/>
                </a:lnTo>
                <a:lnTo>
                  <a:pt x="3729469" y="4000919"/>
                </a:lnTo>
                <a:lnTo>
                  <a:pt x="3762375" y="3991673"/>
                </a:lnTo>
                <a:lnTo>
                  <a:pt x="3812032" y="3977703"/>
                </a:lnTo>
                <a:lnTo>
                  <a:pt x="4004221" y="4087584"/>
                </a:lnTo>
                <a:lnTo>
                  <a:pt x="4004221" y="4071201"/>
                </a:lnTo>
                <a:lnTo>
                  <a:pt x="3831247" y="3972306"/>
                </a:lnTo>
                <a:lnTo>
                  <a:pt x="4250194" y="3854513"/>
                </a:lnTo>
                <a:lnTo>
                  <a:pt x="4250194" y="3839705"/>
                </a:lnTo>
                <a:lnTo>
                  <a:pt x="3813886" y="3962374"/>
                </a:lnTo>
                <a:lnTo>
                  <a:pt x="3794658" y="3951389"/>
                </a:lnTo>
                <a:lnTo>
                  <a:pt x="3794658" y="3967784"/>
                </a:lnTo>
                <a:lnTo>
                  <a:pt x="3744404" y="3981907"/>
                </a:lnTo>
                <a:lnTo>
                  <a:pt x="3745928" y="3939921"/>
                </a:lnTo>
                <a:lnTo>
                  <a:pt x="3794658" y="3967784"/>
                </a:lnTo>
                <a:lnTo>
                  <a:pt x="3794658" y="3951389"/>
                </a:lnTo>
                <a:lnTo>
                  <a:pt x="3746512" y="3923868"/>
                </a:lnTo>
                <a:lnTo>
                  <a:pt x="3770668" y="3259074"/>
                </a:lnTo>
                <a:lnTo>
                  <a:pt x="3775494" y="3273221"/>
                </a:lnTo>
                <a:lnTo>
                  <a:pt x="3796614" y="3260166"/>
                </a:lnTo>
                <a:lnTo>
                  <a:pt x="4760480" y="2664320"/>
                </a:lnTo>
                <a:lnTo>
                  <a:pt x="4811128" y="2698877"/>
                </a:lnTo>
                <a:lnTo>
                  <a:pt x="4877955" y="3258566"/>
                </a:lnTo>
                <a:lnTo>
                  <a:pt x="4878082" y="3259569"/>
                </a:lnTo>
                <a:lnTo>
                  <a:pt x="4878082" y="3139338"/>
                </a:lnTo>
                <a:lnTo>
                  <a:pt x="4826787" y="2709557"/>
                </a:lnTo>
                <a:lnTo>
                  <a:pt x="5194008" y="2960205"/>
                </a:lnTo>
                <a:lnTo>
                  <a:pt x="5194008" y="2942945"/>
                </a:lnTo>
                <a:lnTo>
                  <a:pt x="4824539" y="2690787"/>
                </a:lnTo>
                <a:lnTo>
                  <a:pt x="4817186" y="2629255"/>
                </a:lnTo>
                <a:lnTo>
                  <a:pt x="5242801" y="2366149"/>
                </a:lnTo>
                <a:lnTo>
                  <a:pt x="5448998" y="2718587"/>
                </a:lnTo>
                <a:lnTo>
                  <a:pt x="5448998" y="2690279"/>
                </a:lnTo>
                <a:lnTo>
                  <a:pt x="5254942" y="2358631"/>
                </a:lnTo>
                <a:lnTo>
                  <a:pt x="5596610" y="2147417"/>
                </a:lnTo>
                <a:lnTo>
                  <a:pt x="5609336" y="2139556"/>
                </a:lnTo>
                <a:lnTo>
                  <a:pt x="5597436" y="2134743"/>
                </a:lnTo>
                <a:lnTo>
                  <a:pt x="5577865" y="2126831"/>
                </a:lnTo>
                <a:lnTo>
                  <a:pt x="5577865" y="2142121"/>
                </a:lnTo>
                <a:lnTo>
                  <a:pt x="5247703" y="2346274"/>
                </a:lnTo>
                <a:lnTo>
                  <a:pt x="5235562" y="2325535"/>
                </a:lnTo>
                <a:lnTo>
                  <a:pt x="5235562" y="2353780"/>
                </a:lnTo>
                <a:lnTo>
                  <a:pt x="4815319" y="2613622"/>
                </a:lnTo>
                <a:lnTo>
                  <a:pt x="4808893" y="2559786"/>
                </a:lnTo>
                <a:lnTo>
                  <a:pt x="4808893" y="2680093"/>
                </a:lnTo>
                <a:lnTo>
                  <a:pt x="4773739" y="2656116"/>
                </a:lnTo>
                <a:lnTo>
                  <a:pt x="4803800" y="2637523"/>
                </a:lnTo>
                <a:lnTo>
                  <a:pt x="4808893" y="2680093"/>
                </a:lnTo>
                <a:lnTo>
                  <a:pt x="4808893" y="2559786"/>
                </a:lnTo>
                <a:lnTo>
                  <a:pt x="4801933" y="2501481"/>
                </a:lnTo>
                <a:lnTo>
                  <a:pt x="4801933" y="2621902"/>
                </a:lnTo>
                <a:lnTo>
                  <a:pt x="4760849" y="2647315"/>
                </a:lnTo>
                <a:lnTo>
                  <a:pt x="4747577" y="2638260"/>
                </a:lnTo>
                <a:lnTo>
                  <a:pt x="4747577" y="2655506"/>
                </a:lnTo>
                <a:lnTo>
                  <a:pt x="3783279" y="3251758"/>
                </a:lnTo>
                <a:lnTo>
                  <a:pt x="3772128" y="3219043"/>
                </a:lnTo>
                <a:lnTo>
                  <a:pt x="3781056" y="2973057"/>
                </a:lnTo>
                <a:lnTo>
                  <a:pt x="4182948" y="2615209"/>
                </a:lnTo>
                <a:lnTo>
                  <a:pt x="4551096" y="2591346"/>
                </a:lnTo>
                <a:lnTo>
                  <a:pt x="4550003" y="2586405"/>
                </a:lnTo>
                <a:lnTo>
                  <a:pt x="4548200" y="2578189"/>
                </a:lnTo>
                <a:lnTo>
                  <a:pt x="4548073" y="2577655"/>
                </a:lnTo>
                <a:lnTo>
                  <a:pt x="4533570" y="2511983"/>
                </a:lnTo>
                <a:lnTo>
                  <a:pt x="4533570" y="2578189"/>
                </a:lnTo>
                <a:lnTo>
                  <a:pt x="4200283" y="2599779"/>
                </a:lnTo>
                <a:lnTo>
                  <a:pt x="4402328" y="2419870"/>
                </a:lnTo>
                <a:lnTo>
                  <a:pt x="4515688" y="2497226"/>
                </a:lnTo>
                <a:lnTo>
                  <a:pt x="4533443" y="2577655"/>
                </a:lnTo>
                <a:lnTo>
                  <a:pt x="4533570" y="2578189"/>
                </a:lnTo>
                <a:lnTo>
                  <a:pt x="4533570" y="2511983"/>
                </a:lnTo>
                <a:lnTo>
                  <a:pt x="4532909" y="2508986"/>
                </a:lnTo>
                <a:lnTo>
                  <a:pt x="4747577" y="2655506"/>
                </a:lnTo>
                <a:lnTo>
                  <a:pt x="4747577" y="2638260"/>
                </a:lnTo>
                <a:lnTo>
                  <a:pt x="4528426" y="2488679"/>
                </a:lnTo>
                <a:lnTo>
                  <a:pt x="4511205" y="2410688"/>
                </a:lnTo>
                <a:lnTo>
                  <a:pt x="4511205" y="2476931"/>
                </a:lnTo>
                <a:lnTo>
                  <a:pt x="4413288" y="2410117"/>
                </a:lnTo>
                <a:lnTo>
                  <a:pt x="4482795" y="2348217"/>
                </a:lnTo>
                <a:lnTo>
                  <a:pt x="4511205" y="2476931"/>
                </a:lnTo>
                <a:lnTo>
                  <a:pt x="4511205" y="2410688"/>
                </a:lnTo>
                <a:lnTo>
                  <a:pt x="4495012" y="2337333"/>
                </a:lnTo>
                <a:lnTo>
                  <a:pt x="4669726" y="2181771"/>
                </a:lnTo>
                <a:lnTo>
                  <a:pt x="4682960" y="2169985"/>
                </a:lnTo>
                <a:lnTo>
                  <a:pt x="4679569" y="2169477"/>
                </a:lnTo>
                <a:lnTo>
                  <a:pt x="4650752" y="2165172"/>
                </a:lnTo>
                <a:lnTo>
                  <a:pt x="4650752" y="2179536"/>
                </a:lnTo>
                <a:lnTo>
                  <a:pt x="4491482" y="2321344"/>
                </a:lnTo>
                <a:lnTo>
                  <a:pt x="4479264" y="2265984"/>
                </a:lnTo>
                <a:lnTo>
                  <a:pt x="4479264" y="2332228"/>
                </a:lnTo>
                <a:lnTo>
                  <a:pt x="4401121" y="2401798"/>
                </a:lnTo>
                <a:lnTo>
                  <a:pt x="4390161" y="2394318"/>
                </a:lnTo>
                <a:lnTo>
                  <a:pt x="4390161" y="2411565"/>
                </a:lnTo>
                <a:lnTo>
                  <a:pt x="4177093" y="2601277"/>
                </a:lnTo>
                <a:lnTo>
                  <a:pt x="4159758" y="2602407"/>
                </a:lnTo>
                <a:lnTo>
                  <a:pt x="4159758" y="2616708"/>
                </a:lnTo>
                <a:lnTo>
                  <a:pt x="3781780" y="2953245"/>
                </a:lnTo>
                <a:lnTo>
                  <a:pt x="3793147" y="2640457"/>
                </a:lnTo>
                <a:lnTo>
                  <a:pt x="4159758" y="2616708"/>
                </a:lnTo>
                <a:lnTo>
                  <a:pt x="4159758" y="2602407"/>
                </a:lnTo>
                <a:lnTo>
                  <a:pt x="3793667" y="2626093"/>
                </a:lnTo>
                <a:lnTo>
                  <a:pt x="3814445" y="2054529"/>
                </a:lnTo>
                <a:lnTo>
                  <a:pt x="3881844" y="2064600"/>
                </a:lnTo>
                <a:lnTo>
                  <a:pt x="4390161" y="2411565"/>
                </a:lnTo>
                <a:lnTo>
                  <a:pt x="4390161" y="2394318"/>
                </a:lnTo>
                <a:lnTo>
                  <a:pt x="3914140" y="2069426"/>
                </a:lnTo>
                <a:lnTo>
                  <a:pt x="4438561" y="2147824"/>
                </a:lnTo>
                <a:lnTo>
                  <a:pt x="4479264" y="2332228"/>
                </a:lnTo>
                <a:lnTo>
                  <a:pt x="4479264" y="2265984"/>
                </a:lnTo>
                <a:lnTo>
                  <a:pt x="4453687" y="2150084"/>
                </a:lnTo>
                <a:lnTo>
                  <a:pt x="4650752" y="2179536"/>
                </a:lnTo>
                <a:lnTo>
                  <a:pt x="4650752" y="2165172"/>
                </a:lnTo>
                <a:lnTo>
                  <a:pt x="4450410" y="2135225"/>
                </a:lnTo>
                <a:lnTo>
                  <a:pt x="4435284" y="2066696"/>
                </a:lnTo>
                <a:lnTo>
                  <a:pt x="4435284" y="2132965"/>
                </a:lnTo>
                <a:lnTo>
                  <a:pt x="3887203" y="2051037"/>
                </a:lnTo>
                <a:lnTo>
                  <a:pt x="3854894" y="2028990"/>
                </a:lnTo>
                <a:lnTo>
                  <a:pt x="3854894" y="2046211"/>
                </a:lnTo>
                <a:lnTo>
                  <a:pt x="3814965" y="2040242"/>
                </a:lnTo>
                <a:lnTo>
                  <a:pt x="3815727" y="2019465"/>
                </a:lnTo>
                <a:lnTo>
                  <a:pt x="3854894" y="2046211"/>
                </a:lnTo>
                <a:lnTo>
                  <a:pt x="3854894" y="2028990"/>
                </a:lnTo>
                <a:lnTo>
                  <a:pt x="3816337" y="2002663"/>
                </a:lnTo>
                <a:lnTo>
                  <a:pt x="3833939" y="1518272"/>
                </a:lnTo>
                <a:lnTo>
                  <a:pt x="3892829" y="1459953"/>
                </a:lnTo>
                <a:lnTo>
                  <a:pt x="4325404" y="1635074"/>
                </a:lnTo>
                <a:lnTo>
                  <a:pt x="4435284" y="2132965"/>
                </a:lnTo>
                <a:lnTo>
                  <a:pt x="4435284" y="2066696"/>
                </a:lnTo>
                <a:lnTo>
                  <a:pt x="4341469" y="1641576"/>
                </a:lnTo>
                <a:lnTo>
                  <a:pt x="4702327" y="1787677"/>
                </a:lnTo>
                <a:lnTo>
                  <a:pt x="4801933" y="2621902"/>
                </a:lnTo>
                <a:lnTo>
                  <a:pt x="4801933" y="2501481"/>
                </a:lnTo>
                <a:lnTo>
                  <a:pt x="4717466" y="1793811"/>
                </a:lnTo>
                <a:lnTo>
                  <a:pt x="4967046" y="1894852"/>
                </a:lnTo>
                <a:lnTo>
                  <a:pt x="5235562" y="2353780"/>
                </a:lnTo>
                <a:lnTo>
                  <a:pt x="5235562" y="2325535"/>
                </a:lnTo>
                <a:lnTo>
                  <a:pt x="4988712" y="1903615"/>
                </a:lnTo>
                <a:lnTo>
                  <a:pt x="5577865" y="2142121"/>
                </a:lnTo>
                <a:lnTo>
                  <a:pt x="5577865" y="2126831"/>
                </a:lnTo>
                <a:lnTo>
                  <a:pt x="4976965" y="1883537"/>
                </a:lnTo>
                <a:lnTo>
                  <a:pt x="4955298" y="1846516"/>
                </a:lnTo>
                <a:lnTo>
                  <a:pt x="4955298" y="1874774"/>
                </a:lnTo>
                <a:lnTo>
                  <a:pt x="4715548" y="1777695"/>
                </a:lnTo>
                <a:lnTo>
                  <a:pt x="4700409" y="1650860"/>
                </a:lnTo>
                <a:lnTo>
                  <a:pt x="4700409" y="1771573"/>
                </a:lnTo>
                <a:lnTo>
                  <a:pt x="4337761" y="1624736"/>
                </a:lnTo>
                <a:lnTo>
                  <a:pt x="4321695" y="1551952"/>
                </a:lnTo>
                <a:lnTo>
                  <a:pt x="4321695" y="1618234"/>
                </a:lnTo>
                <a:lnTo>
                  <a:pt x="3903827" y="1449057"/>
                </a:lnTo>
                <a:lnTo>
                  <a:pt x="4216095" y="1139799"/>
                </a:lnTo>
                <a:lnTo>
                  <a:pt x="4321695" y="1618234"/>
                </a:lnTo>
                <a:lnTo>
                  <a:pt x="4321695" y="1551952"/>
                </a:lnTo>
                <a:lnTo>
                  <a:pt x="4227944" y="1127201"/>
                </a:lnTo>
                <a:lnTo>
                  <a:pt x="4224477" y="1111478"/>
                </a:lnTo>
                <a:lnTo>
                  <a:pt x="3889476" y="1443240"/>
                </a:lnTo>
                <a:lnTo>
                  <a:pt x="3878478" y="1438795"/>
                </a:lnTo>
                <a:lnTo>
                  <a:pt x="3878478" y="1454137"/>
                </a:lnTo>
                <a:lnTo>
                  <a:pt x="3834688" y="1497495"/>
                </a:lnTo>
                <a:lnTo>
                  <a:pt x="3836886" y="1437309"/>
                </a:lnTo>
                <a:lnTo>
                  <a:pt x="3878478" y="1454137"/>
                </a:lnTo>
                <a:lnTo>
                  <a:pt x="3878478" y="1438795"/>
                </a:lnTo>
                <a:lnTo>
                  <a:pt x="3837432" y="1422184"/>
                </a:lnTo>
                <a:lnTo>
                  <a:pt x="3859212" y="823188"/>
                </a:lnTo>
                <a:lnTo>
                  <a:pt x="3951300" y="744588"/>
                </a:lnTo>
                <a:lnTo>
                  <a:pt x="4344352" y="830541"/>
                </a:lnTo>
                <a:lnTo>
                  <a:pt x="4650537" y="1353858"/>
                </a:lnTo>
                <a:lnTo>
                  <a:pt x="4700409" y="1771573"/>
                </a:lnTo>
                <a:lnTo>
                  <a:pt x="4700409" y="1650860"/>
                </a:lnTo>
                <a:lnTo>
                  <a:pt x="4668659" y="1384833"/>
                </a:lnTo>
                <a:lnTo>
                  <a:pt x="4955298" y="1874774"/>
                </a:lnTo>
                <a:lnTo>
                  <a:pt x="4955298" y="1846516"/>
                </a:lnTo>
                <a:lnTo>
                  <a:pt x="4664418" y="1349362"/>
                </a:lnTo>
                <a:lnTo>
                  <a:pt x="4646295" y="1197521"/>
                </a:lnTo>
                <a:lnTo>
                  <a:pt x="4646295" y="1318387"/>
                </a:lnTo>
                <a:lnTo>
                  <a:pt x="4363275" y="834682"/>
                </a:lnTo>
                <a:lnTo>
                  <a:pt x="4594580" y="885266"/>
                </a:lnTo>
                <a:lnTo>
                  <a:pt x="4646295" y="1318387"/>
                </a:lnTo>
                <a:lnTo>
                  <a:pt x="4646295" y="1197521"/>
                </a:lnTo>
                <a:lnTo>
                  <a:pt x="4609414" y="888504"/>
                </a:lnTo>
                <a:lnTo>
                  <a:pt x="5772569" y="1142873"/>
                </a:lnTo>
                <a:lnTo>
                  <a:pt x="5777573" y="1142873"/>
                </a:lnTo>
                <a:lnTo>
                  <a:pt x="5786856" y="1142873"/>
                </a:lnTo>
                <a:lnTo>
                  <a:pt x="5787187" y="1136840"/>
                </a:lnTo>
                <a:lnTo>
                  <a:pt x="5787479" y="1131519"/>
                </a:lnTo>
                <a:lnTo>
                  <a:pt x="4607623" y="873493"/>
                </a:lnTo>
                <a:lnTo>
                  <a:pt x="4592790" y="749249"/>
                </a:lnTo>
                <a:lnTo>
                  <a:pt x="4592790" y="870254"/>
                </a:lnTo>
                <a:lnTo>
                  <a:pt x="4353471" y="817918"/>
                </a:lnTo>
                <a:lnTo>
                  <a:pt x="4334535" y="785558"/>
                </a:lnTo>
                <a:lnTo>
                  <a:pt x="4334535" y="813777"/>
                </a:lnTo>
                <a:lnTo>
                  <a:pt x="3964940" y="732955"/>
                </a:lnTo>
                <a:lnTo>
                  <a:pt x="4179900" y="549478"/>
                </a:lnTo>
                <a:lnTo>
                  <a:pt x="4334535" y="813777"/>
                </a:lnTo>
                <a:lnTo>
                  <a:pt x="4334535" y="785558"/>
                </a:lnTo>
                <a:lnTo>
                  <a:pt x="4190911" y="540080"/>
                </a:lnTo>
                <a:lnTo>
                  <a:pt x="4519841" y="259334"/>
                </a:lnTo>
                <a:lnTo>
                  <a:pt x="4592790" y="870254"/>
                </a:lnTo>
                <a:lnTo>
                  <a:pt x="4592790" y="749249"/>
                </a:lnTo>
                <a:lnTo>
                  <a:pt x="4532719" y="246049"/>
                </a:lnTo>
                <a:lnTo>
                  <a:pt x="4530941" y="231101"/>
                </a:lnTo>
                <a:lnTo>
                  <a:pt x="4183583" y="527570"/>
                </a:lnTo>
                <a:lnTo>
                  <a:pt x="4172585" y="508774"/>
                </a:lnTo>
                <a:lnTo>
                  <a:pt x="4172585" y="536968"/>
                </a:lnTo>
                <a:lnTo>
                  <a:pt x="3947452" y="729132"/>
                </a:lnTo>
                <a:lnTo>
                  <a:pt x="3863302" y="710717"/>
                </a:lnTo>
                <a:lnTo>
                  <a:pt x="3862882" y="722134"/>
                </a:lnTo>
                <a:lnTo>
                  <a:pt x="3862768" y="725220"/>
                </a:lnTo>
                <a:lnTo>
                  <a:pt x="3933825" y="740765"/>
                </a:lnTo>
                <a:lnTo>
                  <a:pt x="3859911" y="803846"/>
                </a:lnTo>
                <a:lnTo>
                  <a:pt x="3862768" y="725220"/>
                </a:lnTo>
                <a:lnTo>
                  <a:pt x="3863302" y="710717"/>
                </a:lnTo>
                <a:lnTo>
                  <a:pt x="3887330" y="49428"/>
                </a:lnTo>
                <a:lnTo>
                  <a:pt x="4172585" y="536968"/>
                </a:lnTo>
                <a:lnTo>
                  <a:pt x="4172585" y="508774"/>
                </a:lnTo>
                <a:lnTo>
                  <a:pt x="3889591" y="25095"/>
                </a:lnTo>
                <a:lnTo>
                  <a:pt x="3874897" y="0"/>
                </a:lnTo>
                <a:lnTo>
                  <a:pt x="3849179" y="707631"/>
                </a:lnTo>
                <a:lnTo>
                  <a:pt x="3848646" y="707517"/>
                </a:lnTo>
                <a:lnTo>
                  <a:pt x="3848646" y="722134"/>
                </a:lnTo>
                <a:lnTo>
                  <a:pt x="3845318" y="813777"/>
                </a:lnTo>
                <a:lnTo>
                  <a:pt x="3845229" y="816381"/>
                </a:lnTo>
                <a:lnTo>
                  <a:pt x="3844518" y="816991"/>
                </a:lnTo>
                <a:lnTo>
                  <a:pt x="3844518" y="835723"/>
                </a:lnTo>
                <a:lnTo>
                  <a:pt x="3823398" y="1416494"/>
                </a:lnTo>
                <a:lnTo>
                  <a:pt x="3822852" y="1416278"/>
                </a:lnTo>
                <a:lnTo>
                  <a:pt x="3822852" y="1431620"/>
                </a:lnTo>
                <a:lnTo>
                  <a:pt x="3819918" y="1512125"/>
                </a:lnTo>
                <a:lnTo>
                  <a:pt x="3819169" y="1512874"/>
                </a:lnTo>
                <a:lnTo>
                  <a:pt x="3819169" y="1532902"/>
                </a:lnTo>
                <a:lnTo>
                  <a:pt x="3802443" y="1993176"/>
                </a:lnTo>
                <a:lnTo>
                  <a:pt x="3801834" y="1992769"/>
                </a:lnTo>
                <a:lnTo>
                  <a:pt x="3801834" y="2009990"/>
                </a:lnTo>
                <a:lnTo>
                  <a:pt x="3800805" y="2038121"/>
                </a:lnTo>
                <a:lnTo>
                  <a:pt x="3800284" y="2038045"/>
                </a:lnTo>
                <a:lnTo>
                  <a:pt x="3800284" y="2052408"/>
                </a:lnTo>
                <a:lnTo>
                  <a:pt x="3779393" y="2627020"/>
                </a:lnTo>
                <a:lnTo>
                  <a:pt x="3778872" y="2627058"/>
                </a:lnTo>
                <a:lnTo>
                  <a:pt x="3778872" y="2641384"/>
                </a:lnTo>
                <a:lnTo>
                  <a:pt x="3767061" y="2966351"/>
                </a:lnTo>
                <a:lnTo>
                  <a:pt x="3766337" y="2966999"/>
                </a:lnTo>
                <a:lnTo>
                  <a:pt x="3766337" y="2986176"/>
                </a:lnTo>
                <a:lnTo>
                  <a:pt x="3759250" y="3181261"/>
                </a:lnTo>
                <a:lnTo>
                  <a:pt x="3757803" y="3177019"/>
                </a:lnTo>
                <a:lnTo>
                  <a:pt x="3757803" y="3221291"/>
                </a:lnTo>
                <a:lnTo>
                  <a:pt x="3732555" y="3915892"/>
                </a:lnTo>
                <a:lnTo>
                  <a:pt x="3017431" y="3507079"/>
                </a:lnTo>
                <a:lnTo>
                  <a:pt x="3357829" y="3349917"/>
                </a:lnTo>
                <a:lnTo>
                  <a:pt x="3362248" y="3345980"/>
                </a:lnTo>
                <a:lnTo>
                  <a:pt x="3698341" y="3046717"/>
                </a:lnTo>
                <a:lnTo>
                  <a:pt x="3757803" y="3221291"/>
                </a:lnTo>
                <a:lnTo>
                  <a:pt x="3757803" y="3177019"/>
                </a:lnTo>
                <a:lnTo>
                  <a:pt x="3709898" y="3036417"/>
                </a:lnTo>
                <a:lnTo>
                  <a:pt x="3766337" y="2986176"/>
                </a:lnTo>
                <a:lnTo>
                  <a:pt x="3766337" y="2966999"/>
                </a:lnTo>
                <a:lnTo>
                  <a:pt x="3704882" y="3021711"/>
                </a:lnTo>
                <a:lnTo>
                  <a:pt x="3693325" y="2987789"/>
                </a:lnTo>
                <a:lnTo>
                  <a:pt x="3693325" y="3031998"/>
                </a:lnTo>
                <a:lnTo>
                  <a:pt x="3357308" y="3331184"/>
                </a:lnTo>
                <a:lnTo>
                  <a:pt x="3345180" y="3292310"/>
                </a:lnTo>
                <a:lnTo>
                  <a:pt x="3345180" y="3339985"/>
                </a:lnTo>
                <a:lnTo>
                  <a:pt x="3002178" y="3498354"/>
                </a:lnTo>
                <a:lnTo>
                  <a:pt x="2986303" y="3489287"/>
                </a:lnTo>
                <a:lnTo>
                  <a:pt x="2986303" y="3505682"/>
                </a:lnTo>
                <a:lnTo>
                  <a:pt x="2415756" y="3769093"/>
                </a:lnTo>
                <a:lnTo>
                  <a:pt x="2402751" y="3728872"/>
                </a:lnTo>
                <a:lnTo>
                  <a:pt x="2402751" y="3775100"/>
                </a:lnTo>
                <a:lnTo>
                  <a:pt x="2045004" y="3940264"/>
                </a:lnTo>
                <a:lnTo>
                  <a:pt x="1210081" y="3823131"/>
                </a:lnTo>
                <a:lnTo>
                  <a:pt x="1159344" y="3816019"/>
                </a:lnTo>
                <a:lnTo>
                  <a:pt x="1159484" y="3815016"/>
                </a:lnTo>
                <a:lnTo>
                  <a:pt x="1545894" y="1124902"/>
                </a:lnTo>
                <a:lnTo>
                  <a:pt x="1965020" y="2421217"/>
                </a:lnTo>
                <a:lnTo>
                  <a:pt x="1613623" y="2721152"/>
                </a:lnTo>
                <a:lnTo>
                  <a:pt x="1613992" y="2721152"/>
                </a:lnTo>
                <a:lnTo>
                  <a:pt x="2163584" y="3035338"/>
                </a:lnTo>
                <a:lnTo>
                  <a:pt x="2402751" y="3775100"/>
                </a:lnTo>
                <a:lnTo>
                  <a:pt x="2402751" y="3728872"/>
                </a:lnTo>
                <a:lnTo>
                  <a:pt x="2181936" y="3045828"/>
                </a:lnTo>
                <a:lnTo>
                  <a:pt x="2986303" y="3505682"/>
                </a:lnTo>
                <a:lnTo>
                  <a:pt x="2986303" y="3489287"/>
                </a:lnTo>
                <a:lnTo>
                  <a:pt x="2175421" y="3025698"/>
                </a:lnTo>
                <a:lnTo>
                  <a:pt x="2157069" y="2968942"/>
                </a:lnTo>
                <a:lnTo>
                  <a:pt x="2157069" y="3015208"/>
                </a:lnTo>
                <a:lnTo>
                  <a:pt x="1649793" y="2725216"/>
                </a:lnTo>
                <a:lnTo>
                  <a:pt x="1638388" y="2718701"/>
                </a:lnTo>
                <a:lnTo>
                  <a:pt x="1644269" y="2713672"/>
                </a:lnTo>
                <a:lnTo>
                  <a:pt x="1969757" y="2435872"/>
                </a:lnTo>
                <a:lnTo>
                  <a:pt x="2157069" y="3015208"/>
                </a:lnTo>
                <a:lnTo>
                  <a:pt x="2157069" y="2968942"/>
                </a:lnTo>
                <a:lnTo>
                  <a:pt x="1981492" y="2425852"/>
                </a:lnTo>
                <a:lnTo>
                  <a:pt x="2486698" y="1994649"/>
                </a:lnTo>
                <a:lnTo>
                  <a:pt x="2449220" y="2727490"/>
                </a:lnTo>
                <a:lnTo>
                  <a:pt x="2562733" y="2720149"/>
                </a:lnTo>
                <a:lnTo>
                  <a:pt x="3140151" y="2682748"/>
                </a:lnTo>
                <a:lnTo>
                  <a:pt x="3345180" y="3339985"/>
                </a:lnTo>
                <a:lnTo>
                  <a:pt x="3345180" y="3292310"/>
                </a:lnTo>
                <a:lnTo>
                  <a:pt x="3154756" y="2681808"/>
                </a:lnTo>
                <a:lnTo>
                  <a:pt x="3565017" y="2655227"/>
                </a:lnTo>
                <a:lnTo>
                  <a:pt x="3693325" y="3031998"/>
                </a:lnTo>
                <a:lnTo>
                  <a:pt x="3693325" y="2987789"/>
                </a:lnTo>
                <a:lnTo>
                  <a:pt x="3579723" y="2654274"/>
                </a:lnTo>
                <a:lnTo>
                  <a:pt x="3778872" y="2641384"/>
                </a:lnTo>
                <a:lnTo>
                  <a:pt x="3778872" y="2627058"/>
                </a:lnTo>
                <a:lnTo>
                  <a:pt x="3574948" y="2640253"/>
                </a:lnTo>
                <a:lnTo>
                  <a:pt x="3560241" y="2597099"/>
                </a:lnTo>
                <a:lnTo>
                  <a:pt x="3560241" y="2641206"/>
                </a:lnTo>
                <a:lnTo>
                  <a:pt x="3150374" y="2667749"/>
                </a:lnTo>
                <a:lnTo>
                  <a:pt x="2917291" y="1920405"/>
                </a:lnTo>
                <a:lnTo>
                  <a:pt x="3343338" y="1984095"/>
                </a:lnTo>
                <a:lnTo>
                  <a:pt x="3338182" y="1989213"/>
                </a:lnTo>
                <a:lnTo>
                  <a:pt x="3560241" y="2641206"/>
                </a:lnTo>
                <a:lnTo>
                  <a:pt x="3560241" y="2597099"/>
                </a:lnTo>
                <a:lnTo>
                  <a:pt x="3355517" y="1996186"/>
                </a:lnTo>
                <a:lnTo>
                  <a:pt x="3354476" y="1993112"/>
                </a:lnTo>
                <a:lnTo>
                  <a:pt x="3358794" y="1988832"/>
                </a:lnTo>
                <a:lnTo>
                  <a:pt x="3360915" y="1986724"/>
                </a:lnTo>
                <a:lnTo>
                  <a:pt x="3800284" y="2052408"/>
                </a:lnTo>
                <a:lnTo>
                  <a:pt x="3800284" y="2038045"/>
                </a:lnTo>
                <a:lnTo>
                  <a:pt x="3373513" y="1974253"/>
                </a:lnTo>
                <a:lnTo>
                  <a:pt x="3526904" y="1822348"/>
                </a:lnTo>
                <a:lnTo>
                  <a:pt x="3801834" y="2009990"/>
                </a:lnTo>
                <a:lnTo>
                  <a:pt x="3801834" y="1992769"/>
                </a:lnTo>
                <a:lnTo>
                  <a:pt x="3537204" y="1812150"/>
                </a:lnTo>
                <a:lnTo>
                  <a:pt x="3819169" y="1532902"/>
                </a:lnTo>
                <a:lnTo>
                  <a:pt x="3819169" y="1512874"/>
                </a:lnTo>
                <a:lnTo>
                  <a:pt x="3525228" y="1803971"/>
                </a:lnTo>
                <a:lnTo>
                  <a:pt x="3514928" y="1796948"/>
                </a:lnTo>
                <a:lnTo>
                  <a:pt x="3514928" y="1814169"/>
                </a:lnTo>
                <a:lnTo>
                  <a:pt x="3355937" y="1971624"/>
                </a:lnTo>
                <a:lnTo>
                  <a:pt x="2941028" y="1909597"/>
                </a:lnTo>
                <a:lnTo>
                  <a:pt x="2896933" y="1903006"/>
                </a:lnTo>
                <a:lnTo>
                  <a:pt x="3135769" y="2668689"/>
                </a:lnTo>
                <a:lnTo>
                  <a:pt x="2464333" y="2712148"/>
                </a:lnTo>
                <a:lnTo>
                  <a:pt x="2501696" y="1981847"/>
                </a:lnTo>
                <a:lnTo>
                  <a:pt x="3061093" y="1504391"/>
                </a:lnTo>
                <a:lnTo>
                  <a:pt x="3514928" y="1814169"/>
                </a:lnTo>
                <a:lnTo>
                  <a:pt x="3514928" y="1796948"/>
                </a:lnTo>
                <a:lnTo>
                  <a:pt x="3072295" y="1494828"/>
                </a:lnTo>
                <a:lnTo>
                  <a:pt x="3363988" y="1245857"/>
                </a:lnTo>
                <a:lnTo>
                  <a:pt x="3822852" y="1431620"/>
                </a:lnTo>
                <a:lnTo>
                  <a:pt x="3822852" y="1416278"/>
                </a:lnTo>
                <a:lnTo>
                  <a:pt x="3376206" y="1235443"/>
                </a:lnTo>
                <a:lnTo>
                  <a:pt x="3844518" y="835723"/>
                </a:lnTo>
                <a:lnTo>
                  <a:pt x="3844518" y="816991"/>
                </a:lnTo>
                <a:lnTo>
                  <a:pt x="3361321" y="1229410"/>
                </a:lnTo>
                <a:lnTo>
                  <a:pt x="3349117" y="1224470"/>
                </a:lnTo>
                <a:lnTo>
                  <a:pt x="3349117" y="1239837"/>
                </a:lnTo>
                <a:lnTo>
                  <a:pt x="3060115" y="1486509"/>
                </a:lnTo>
                <a:lnTo>
                  <a:pt x="3048901" y="1478864"/>
                </a:lnTo>
                <a:lnTo>
                  <a:pt x="3048901" y="1496072"/>
                </a:lnTo>
                <a:lnTo>
                  <a:pt x="2502700" y="1962289"/>
                </a:lnTo>
                <a:lnTo>
                  <a:pt x="2544191" y="1151585"/>
                </a:lnTo>
                <a:lnTo>
                  <a:pt x="3048901" y="1496072"/>
                </a:lnTo>
                <a:lnTo>
                  <a:pt x="3048901" y="1478864"/>
                </a:lnTo>
                <a:lnTo>
                  <a:pt x="2545029" y="1134973"/>
                </a:lnTo>
                <a:lnTo>
                  <a:pt x="2556103" y="918794"/>
                </a:lnTo>
                <a:lnTo>
                  <a:pt x="3349117" y="1239837"/>
                </a:lnTo>
                <a:lnTo>
                  <a:pt x="3349117" y="1224470"/>
                </a:lnTo>
                <a:lnTo>
                  <a:pt x="2569413" y="908786"/>
                </a:lnTo>
                <a:lnTo>
                  <a:pt x="2542794" y="898017"/>
                </a:lnTo>
                <a:lnTo>
                  <a:pt x="2531148" y="1125499"/>
                </a:lnTo>
                <a:lnTo>
                  <a:pt x="2530297" y="1124927"/>
                </a:lnTo>
                <a:lnTo>
                  <a:pt x="2530297" y="1142111"/>
                </a:lnTo>
                <a:lnTo>
                  <a:pt x="2487701" y="1975091"/>
                </a:lnTo>
                <a:lnTo>
                  <a:pt x="1976755" y="2411209"/>
                </a:lnTo>
                <a:lnTo>
                  <a:pt x="1550504" y="1092784"/>
                </a:lnTo>
                <a:lnTo>
                  <a:pt x="1631543" y="528650"/>
                </a:lnTo>
                <a:lnTo>
                  <a:pt x="2530297" y="1142111"/>
                </a:lnTo>
                <a:lnTo>
                  <a:pt x="2530297" y="1124927"/>
                </a:lnTo>
                <a:lnTo>
                  <a:pt x="1640116" y="517334"/>
                </a:lnTo>
                <a:lnTo>
                  <a:pt x="1620608" y="504024"/>
                </a:lnTo>
                <a:lnTo>
                  <a:pt x="1540497" y="1061821"/>
                </a:lnTo>
                <a:lnTo>
                  <a:pt x="1246720" y="153136"/>
                </a:lnTo>
                <a:lnTo>
                  <a:pt x="3848646" y="722134"/>
                </a:lnTo>
                <a:lnTo>
                  <a:pt x="3848646" y="707517"/>
                </a:lnTo>
                <a:lnTo>
                  <a:pt x="1259090" y="141224"/>
                </a:lnTo>
                <a:lnTo>
                  <a:pt x="1225473" y="133870"/>
                </a:lnTo>
                <a:lnTo>
                  <a:pt x="1535887" y="1093952"/>
                </a:lnTo>
                <a:lnTo>
                  <a:pt x="1143177" y="3828199"/>
                </a:lnTo>
                <a:lnTo>
                  <a:pt x="2021027" y="3951338"/>
                </a:lnTo>
                <a:lnTo>
                  <a:pt x="0" y="4884420"/>
                </a:lnTo>
                <a:lnTo>
                  <a:pt x="5981" y="4897374"/>
                </a:lnTo>
                <a:lnTo>
                  <a:pt x="2047189" y="3955008"/>
                </a:lnTo>
                <a:lnTo>
                  <a:pt x="2480576" y="4015790"/>
                </a:lnTo>
                <a:lnTo>
                  <a:pt x="2860548" y="5190972"/>
                </a:lnTo>
                <a:lnTo>
                  <a:pt x="2876537" y="5175821"/>
                </a:lnTo>
                <a:lnTo>
                  <a:pt x="3891864" y="4213745"/>
                </a:lnTo>
                <a:lnTo>
                  <a:pt x="4333202" y="4275645"/>
                </a:lnTo>
                <a:lnTo>
                  <a:pt x="5575986" y="4986109"/>
                </a:lnTo>
                <a:lnTo>
                  <a:pt x="5576659" y="4973790"/>
                </a:lnTo>
                <a:lnTo>
                  <a:pt x="5659818" y="3458184"/>
                </a:lnTo>
                <a:lnTo>
                  <a:pt x="5853303" y="3403790"/>
                </a:lnTo>
                <a:lnTo>
                  <a:pt x="5864568" y="3400628"/>
                </a:lnTo>
                <a:close/>
              </a:path>
            </a:pathLst>
          </a:custGeom>
          <a:solidFill>
            <a:srgbClr val="C5BD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786495" cy="4843145"/>
          </a:xfrm>
          <a:custGeom>
            <a:avLst/>
            <a:gdLst/>
            <a:ahLst/>
            <a:cxnLst/>
            <a:rect l="l" t="t" r="r" b="b"/>
            <a:pathLst>
              <a:path w="8786495" h="4843145">
                <a:moveTo>
                  <a:pt x="515413" y="0"/>
                </a:moveTo>
                <a:lnTo>
                  <a:pt x="2952876" y="3643349"/>
                </a:lnTo>
                <a:lnTo>
                  <a:pt x="7269282" y="2826622"/>
                </a:lnTo>
                <a:lnTo>
                  <a:pt x="7791725" y="0"/>
                </a:lnTo>
              </a:path>
              <a:path w="8786495" h="4843145">
                <a:moveTo>
                  <a:pt x="5267592" y="0"/>
                </a:moveTo>
                <a:lnTo>
                  <a:pt x="470841" y="2648074"/>
                </a:lnTo>
                <a:lnTo>
                  <a:pt x="3995948" y="4843009"/>
                </a:lnTo>
                <a:lnTo>
                  <a:pt x="6387960" y="3847582"/>
                </a:lnTo>
                <a:lnTo>
                  <a:pt x="5285773" y="0"/>
                </a:lnTo>
              </a:path>
              <a:path w="8786495" h="4843145">
                <a:moveTo>
                  <a:pt x="0" y="239613"/>
                </a:moveTo>
                <a:lnTo>
                  <a:pt x="3995948" y="2571426"/>
                </a:lnTo>
                <a:lnTo>
                  <a:pt x="8785904" y="0"/>
                </a:lnTo>
              </a:path>
            </a:pathLst>
          </a:custGeom>
          <a:ln w="10503">
            <a:solidFill>
              <a:srgbClr val="C5BD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19626" y="0"/>
            <a:ext cx="5503545" cy="2357755"/>
          </a:xfrm>
          <a:custGeom>
            <a:avLst/>
            <a:gdLst/>
            <a:ahLst/>
            <a:cxnLst/>
            <a:rect l="l" t="t" r="r" b="b"/>
            <a:pathLst>
              <a:path w="5503545" h="2357755">
                <a:moveTo>
                  <a:pt x="1901163" y="0"/>
                </a:moveTo>
                <a:lnTo>
                  <a:pt x="3181904" y="1171087"/>
                </a:lnTo>
                <a:lnTo>
                  <a:pt x="5186537" y="0"/>
                </a:lnTo>
              </a:path>
              <a:path w="5503545" h="2357755">
                <a:moveTo>
                  <a:pt x="1215997" y="0"/>
                </a:moveTo>
                <a:lnTo>
                  <a:pt x="2112698" y="1365497"/>
                </a:lnTo>
                <a:lnTo>
                  <a:pt x="4814892" y="801554"/>
                </a:lnTo>
                <a:lnTo>
                  <a:pt x="4396608" y="0"/>
                </a:lnTo>
              </a:path>
              <a:path w="5503545" h="2357755">
                <a:moveTo>
                  <a:pt x="772415" y="0"/>
                </a:moveTo>
                <a:lnTo>
                  <a:pt x="1335151" y="782012"/>
                </a:lnTo>
                <a:lnTo>
                  <a:pt x="2805610" y="0"/>
                </a:lnTo>
              </a:path>
              <a:path w="5503545" h="2357755">
                <a:moveTo>
                  <a:pt x="5503524" y="0"/>
                </a:moveTo>
                <a:lnTo>
                  <a:pt x="3044257" y="1793276"/>
                </a:lnTo>
                <a:lnTo>
                  <a:pt x="3315362" y="0"/>
                </a:lnTo>
              </a:path>
              <a:path w="5503545" h="2357755">
                <a:moveTo>
                  <a:pt x="0" y="0"/>
                </a:moveTo>
                <a:lnTo>
                  <a:pt x="2384820" y="2046061"/>
                </a:lnTo>
                <a:lnTo>
                  <a:pt x="4516255" y="2357219"/>
                </a:lnTo>
                <a:lnTo>
                  <a:pt x="5465963" y="0"/>
                </a:lnTo>
              </a:path>
            </a:pathLst>
          </a:custGeom>
          <a:ln w="10503">
            <a:solidFill>
              <a:srgbClr val="C5BD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14726" y="1129918"/>
            <a:ext cx="6352540" cy="694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100" y="1825650"/>
            <a:ext cx="10592435" cy="3696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7575" y="6488392"/>
            <a:ext cx="28066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935"/>
              </a:lnSpc>
            </a:pPr>
            <a:r>
              <a:rPr spc="-2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829934" y="6488392"/>
            <a:ext cx="9474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422275">
              <a:lnSpc>
                <a:spcPts val="935"/>
              </a:lnSpc>
            </a:pPr>
            <a:r>
              <a:rPr spc="-30"/>
              <a:t>Pitch </a:t>
            </a:r>
            <a:r>
              <a:rPr spc="-20"/>
              <a:t>Deck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73025">
              <a:lnSpc>
                <a:spcPts val="93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F2801C-E70D-81A3-110D-93DB570AC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45A24A-BC9D-01E2-8737-766E79CDD109}"/>
              </a:ext>
            </a:extLst>
          </p:cNvPr>
          <p:cNvSpPr/>
          <p:nvPr/>
        </p:nvSpPr>
        <p:spPr>
          <a:xfrm>
            <a:off x="2114550" y="0"/>
            <a:ext cx="10077450" cy="6858000"/>
          </a:xfrm>
          <a:custGeom>
            <a:avLst/>
            <a:gdLst/>
            <a:ahLst/>
            <a:cxnLst/>
            <a:rect l="l" t="t" r="r" b="b"/>
            <a:pathLst>
              <a:path w="10077450" h="6858000">
                <a:moveTo>
                  <a:pt x="10077450" y="0"/>
                </a:moveTo>
                <a:lnTo>
                  <a:pt x="0" y="0"/>
                </a:lnTo>
                <a:lnTo>
                  <a:pt x="3792982" y="6857999"/>
                </a:lnTo>
                <a:lnTo>
                  <a:pt x="10077450" y="6857999"/>
                </a:lnTo>
                <a:lnTo>
                  <a:pt x="1007745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849CE2-83F0-215C-65E3-57E1D13AB8B4}"/>
              </a:ext>
            </a:extLst>
          </p:cNvPr>
          <p:cNvSpPr txBox="1"/>
          <p:nvPr/>
        </p:nvSpPr>
        <p:spPr>
          <a:xfrm>
            <a:off x="3163951" y="2667317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 u="sng">
              <a:solidFill>
                <a:srgbClr val="404040"/>
              </a:solidFill>
              <a:uFill>
                <a:solidFill>
                  <a:srgbClr val="E2B08D"/>
                </a:solidFill>
              </a:uFill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0FFB7B-D86F-DA49-181A-0CCCE9B3E7A7}"/>
              </a:ext>
            </a:extLst>
          </p:cNvPr>
          <p:cNvSpPr txBox="1"/>
          <p:nvPr/>
        </p:nvSpPr>
        <p:spPr>
          <a:xfrm>
            <a:off x="2094864" y="3745166"/>
            <a:ext cx="12731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spc="155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D9B307-E12D-C53D-BA08-D516D1884F9F}"/>
              </a:ext>
            </a:extLst>
          </p:cNvPr>
          <p:cNvSpPr txBox="1"/>
          <p:nvPr/>
        </p:nvSpPr>
        <p:spPr>
          <a:xfrm>
            <a:off x="3754501" y="3745166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F72206E-69AC-E7E4-46CC-0DA46E098A9E}"/>
              </a:ext>
            </a:extLst>
          </p:cNvPr>
          <p:cNvSpPr txBox="1"/>
          <p:nvPr/>
        </p:nvSpPr>
        <p:spPr>
          <a:xfrm>
            <a:off x="3275584" y="4822888"/>
            <a:ext cx="6731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spc="125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DEC55E2-BA8E-28F3-051D-274B860784D8}"/>
              </a:ext>
            </a:extLst>
          </p:cNvPr>
          <p:cNvSpPr txBox="1"/>
          <p:nvPr/>
        </p:nvSpPr>
        <p:spPr>
          <a:xfrm>
            <a:off x="4345051" y="4822888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>
              <a:latin typeface="Trebuchet MS"/>
              <a:cs typeface="Trebuchet M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3A0BB7A-8000-A2AB-585B-572447321676}"/>
              </a:ext>
            </a:extLst>
          </p:cNvPr>
          <p:cNvSpPr txBox="1"/>
          <p:nvPr/>
        </p:nvSpPr>
        <p:spPr>
          <a:xfrm>
            <a:off x="5068570" y="2710179"/>
            <a:ext cx="5039995" cy="23102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endParaRPr sz="1400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406E58E-16C0-2464-80D2-3D1384C6FED8}"/>
              </a:ext>
            </a:extLst>
          </p:cNvPr>
          <p:cNvSpPr txBox="1"/>
          <p:nvPr/>
        </p:nvSpPr>
        <p:spPr>
          <a:xfrm>
            <a:off x="5660009" y="3783901"/>
            <a:ext cx="5224780" cy="23102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endParaRPr sz="1400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F21C52-55EE-AECD-6B2D-57084A11D5AC}"/>
              </a:ext>
            </a:extLst>
          </p:cNvPr>
          <p:cNvSpPr txBox="1"/>
          <p:nvPr/>
        </p:nvSpPr>
        <p:spPr>
          <a:xfrm>
            <a:off x="6258940" y="4854511"/>
            <a:ext cx="496379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5681B33-EDB3-2B0A-1BC9-38DD08B6F64A}"/>
              </a:ext>
            </a:extLst>
          </p:cNvPr>
          <p:cNvSpPr txBox="1"/>
          <p:nvPr/>
        </p:nvSpPr>
        <p:spPr>
          <a:xfrm>
            <a:off x="3277734" y="1264985"/>
            <a:ext cx="5625085" cy="69057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b="1" spc="85" dirty="0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Data Management</a:t>
            </a:r>
            <a:endParaRPr lang="en-US" sz="4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F5FABE0-0011-94E0-12B1-E01DB0EB4087}"/>
              </a:ext>
            </a:extLst>
          </p:cNvPr>
          <p:cNvSpPr txBox="1">
            <a:spLocks/>
          </p:cNvSpPr>
          <p:nvPr/>
        </p:nvSpPr>
        <p:spPr>
          <a:xfrm>
            <a:off x="4080000" y="3225860"/>
            <a:ext cx="4015860" cy="50911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Team Members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DC743303-2BE5-7C44-5047-56B16B62CC49}"/>
              </a:ext>
            </a:extLst>
          </p:cNvPr>
          <p:cNvSpPr txBox="1"/>
          <p:nvPr/>
        </p:nvSpPr>
        <p:spPr>
          <a:xfrm>
            <a:off x="3755780" y="3997532"/>
            <a:ext cx="4686590" cy="186012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Hima Bindu Nagendra Gowda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/>
                <a:cs typeface="Times New Roman"/>
              </a:rPr>
              <a:t>Mehatab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Nidhi  Bhangi Nagaraja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Kandarp </a:t>
            </a:r>
            <a:r>
              <a:rPr lang="en-US" sz="2400" dirty="0" err="1">
                <a:solidFill>
                  <a:schemeClr val="tx1"/>
                </a:solidFill>
                <a:latin typeface="Times New Roman"/>
                <a:cs typeface="Times New Roman"/>
              </a:rPr>
              <a:t>Kiritikumar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 Patel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Rahul Shrikant Devagiri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23EC0E5-AC53-3238-A6C0-46390C1DA2FC}"/>
              </a:ext>
            </a:extLst>
          </p:cNvPr>
          <p:cNvSpPr txBox="1"/>
          <p:nvPr/>
        </p:nvSpPr>
        <p:spPr>
          <a:xfrm>
            <a:off x="3275388" y="2203613"/>
            <a:ext cx="5625085" cy="62901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4000" b="1" spc="85" dirty="0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Maven Toys Dataset</a:t>
            </a:r>
          </a:p>
        </p:txBody>
      </p:sp>
    </p:spTree>
    <p:extLst>
      <p:ext uri="{BB962C8B-B14F-4D97-AF65-F5344CB8AC3E}">
        <p14:creationId xmlns:p14="http://schemas.microsoft.com/office/powerpoint/2010/main" val="96420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4550" y="0"/>
            <a:ext cx="10077450" cy="6858000"/>
          </a:xfrm>
          <a:custGeom>
            <a:avLst/>
            <a:gdLst/>
            <a:ahLst/>
            <a:cxnLst/>
            <a:rect l="l" t="t" r="r" b="b"/>
            <a:pathLst>
              <a:path w="10077450" h="6858000">
                <a:moveTo>
                  <a:pt x="10077450" y="0"/>
                </a:moveTo>
                <a:lnTo>
                  <a:pt x="0" y="0"/>
                </a:lnTo>
                <a:lnTo>
                  <a:pt x="3792982" y="6857999"/>
                </a:lnTo>
                <a:lnTo>
                  <a:pt x="10077450" y="6857999"/>
                </a:lnTo>
                <a:lnTo>
                  <a:pt x="1007745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74738" y="773767"/>
            <a:ext cx="3202559" cy="66236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4200" b="1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63951" y="2667317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 u="sng">
              <a:solidFill>
                <a:srgbClr val="404040"/>
              </a:solidFill>
              <a:uFill>
                <a:solidFill>
                  <a:srgbClr val="E2B08D"/>
                </a:solidFill>
              </a:uFill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4864" y="3745166"/>
            <a:ext cx="12731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spc="155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4501" y="3745166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5584" y="4822888"/>
            <a:ext cx="67310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spc="125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5051" y="4822888"/>
            <a:ext cx="1588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574800" algn="l"/>
              </a:tabLst>
            </a:pPr>
            <a:endParaRPr sz="15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8570" y="2710179"/>
            <a:ext cx="5039995" cy="23102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endParaRPr sz="1400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0009" y="3783901"/>
            <a:ext cx="5224780" cy="23102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204"/>
              </a:spcBef>
            </a:pPr>
            <a:endParaRPr sz="1400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8940" y="4854511"/>
            <a:ext cx="496379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C5C580E0-6631-4558-5F63-FB40EB1C9BA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2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559B4-839C-445B-8614-F140E1FA9BE2}"/>
              </a:ext>
            </a:extLst>
          </p:cNvPr>
          <p:cNvSpPr txBox="1"/>
          <p:nvPr/>
        </p:nvSpPr>
        <p:spPr>
          <a:xfrm>
            <a:off x="949892" y="2134644"/>
            <a:ext cx="1061580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>
                <a:latin typeface="Times New Roman"/>
                <a:cs typeface="Times New Roman"/>
              </a:rPr>
              <a:t>Retail datasets often contain issues such as missing values, duplicate records, invalid formats, and inconsistent data, which affect business analysis and reporting.</a:t>
            </a:r>
            <a:endParaRPr lang="en-US" sz="2400" b="1">
              <a:latin typeface="Times New Roman"/>
              <a:cs typeface="Times New Roman"/>
            </a:endParaRPr>
          </a:p>
          <a:p>
            <a:pPr algn="just"/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>
                <a:latin typeface="Times New Roman"/>
                <a:cs typeface="Times New Roman"/>
              </a:rPr>
              <a:t>In this project, Tableau Prep and Python integration were used to clean, transform, and integrate multiple retail datasets into a structured and analysis-ready dataset for accurate reporting and business decision-making.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306" y="-4306"/>
            <a:ext cx="4688205" cy="4300855"/>
            <a:chOff x="-4306" y="-4306"/>
            <a:chExt cx="4688205" cy="430085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738120" cy="4292600"/>
            </a:xfrm>
            <a:custGeom>
              <a:avLst/>
              <a:gdLst/>
              <a:ahLst/>
              <a:cxnLst/>
              <a:rect l="l" t="t" r="r" b="b"/>
              <a:pathLst>
                <a:path w="2738120" h="4292600">
                  <a:moveTo>
                    <a:pt x="0" y="2751482"/>
                  </a:moveTo>
                  <a:lnTo>
                    <a:pt x="1807318" y="1465065"/>
                  </a:lnTo>
                  <a:lnTo>
                    <a:pt x="1925490" y="0"/>
                  </a:lnTo>
                </a:path>
                <a:path w="2738120" h="4292600">
                  <a:moveTo>
                    <a:pt x="0" y="4292225"/>
                  </a:moveTo>
                  <a:lnTo>
                    <a:pt x="1552806" y="3644791"/>
                  </a:lnTo>
                  <a:lnTo>
                    <a:pt x="420201" y="0"/>
                  </a:lnTo>
                </a:path>
                <a:path w="2738120" h="4292600">
                  <a:moveTo>
                    <a:pt x="0" y="3421740"/>
                  </a:moveTo>
                  <a:lnTo>
                    <a:pt x="2094921" y="2735006"/>
                  </a:lnTo>
                  <a:lnTo>
                    <a:pt x="2738111" y="0"/>
                  </a:lnTo>
                </a:path>
              </a:pathLst>
            </a:custGeom>
            <a:ln w="8610">
              <a:solidFill>
                <a:srgbClr val="C5BD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679315" cy="1739264"/>
            </a:xfrm>
            <a:custGeom>
              <a:avLst/>
              <a:gdLst/>
              <a:ahLst/>
              <a:cxnLst/>
              <a:rect l="l" t="t" r="r" b="b"/>
              <a:pathLst>
                <a:path w="4679315" h="1739264">
                  <a:moveTo>
                    <a:pt x="0" y="1738829"/>
                  </a:moveTo>
                  <a:lnTo>
                    <a:pt x="4679077" y="0"/>
                  </a:lnTo>
                </a:path>
              </a:pathLst>
            </a:custGeom>
            <a:ln w="8607">
              <a:solidFill>
                <a:srgbClr val="C5BD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84016" y="479618"/>
            <a:ext cx="4813300" cy="470322"/>
          </a:xfrm>
          <a:prstGeom prst="rect">
            <a:avLst/>
          </a:prstGeom>
        </p:spPr>
        <p:txBody>
          <a:bodyPr vert="horz" wrap="square" lIns="0" tIns="60960" rIns="0" bIns="0" rtlCol="0" anchor="t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lang="en-IN" sz="4000" b="1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Dataset Description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9180" y="1435100"/>
            <a:ext cx="10563860" cy="394018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algn="just"/>
            <a:r>
              <a:rPr lang="en-US" sz="2000" b="1">
                <a:latin typeface="Times New Roman"/>
                <a:cs typeface="Times New Roman"/>
              </a:rPr>
              <a:t>Sales datasets (sales_2022.csv and sales_2023.csv)</a:t>
            </a:r>
            <a:r>
              <a:rPr lang="en-US" sz="2000">
                <a:latin typeface="Times New Roman"/>
                <a:cs typeface="Times New Roman"/>
              </a:rPr>
              <a:t> 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endParaRPr lang="en-US" sz="2000">
              <a:latin typeface="Times New Roman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Records of sales transactions, units sold, dates, product IDs, and store IDs for each year.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r>
              <a:rPr lang="en-US" sz="2000" b="1">
                <a:latin typeface="Times New Roman"/>
                <a:cs typeface="Times New Roman"/>
              </a:rPr>
              <a:t>Products dataset (products.csv)</a:t>
            </a:r>
            <a:r>
              <a:rPr lang="en-US" sz="2000">
                <a:latin typeface="Times New Roman"/>
                <a:cs typeface="Times New Roman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r>
              <a:rPr lang="en-US" sz="2000">
                <a:latin typeface="Times New Roman"/>
                <a:cs typeface="Times New Roman"/>
              </a:rPr>
              <a:t>Details about products, including product names, categories, manufacturing costs, and sales prices.</a:t>
            </a: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r>
              <a:rPr lang="en-US" sz="2000" b="1">
                <a:latin typeface="Times New Roman"/>
                <a:cs typeface="Times New Roman"/>
              </a:rPr>
              <a:t>Stores dataset (stores.csv)</a:t>
            </a:r>
            <a:r>
              <a:rPr lang="en-US" sz="2000">
                <a:latin typeface="Times New Roman"/>
                <a:cs typeface="Times New Roman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615"/>
              </a:spcBef>
            </a:pPr>
            <a:r>
              <a:rPr lang="en-US" sz="2000">
                <a:latin typeface="Times New Roman"/>
                <a:cs typeface="Times New Roman"/>
              </a:rPr>
              <a:t>Information about stores such as store names, regions, and store details.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AF3D865-D163-7503-9EE2-77404651773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3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01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691626" y="4825"/>
            <a:ext cx="3500754" cy="2689860"/>
          </a:xfrm>
          <a:custGeom>
            <a:avLst/>
            <a:gdLst/>
            <a:ahLst/>
            <a:cxnLst/>
            <a:rect l="l" t="t" r="r" b="b"/>
            <a:pathLst>
              <a:path w="3500754" h="2689860">
                <a:moveTo>
                  <a:pt x="0" y="0"/>
                </a:moveTo>
                <a:lnTo>
                  <a:pt x="3500374" y="2350796"/>
                </a:lnTo>
              </a:path>
              <a:path w="3500754" h="2689860">
                <a:moveTo>
                  <a:pt x="1038225" y="0"/>
                </a:moveTo>
                <a:lnTo>
                  <a:pt x="3500374" y="2689293"/>
                </a:lnTo>
              </a:path>
            </a:pathLst>
          </a:custGeom>
          <a:ln w="6350">
            <a:solidFill>
              <a:srgbClr val="FAF4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0" y="0"/>
            <a:ext cx="2047875" cy="1638300"/>
          </a:xfrm>
          <a:custGeom>
            <a:avLst/>
            <a:gdLst/>
            <a:ahLst/>
            <a:cxnLst/>
            <a:rect l="l" t="t" r="r" b="b"/>
            <a:pathLst>
              <a:path w="2047875" h="1638300">
                <a:moveTo>
                  <a:pt x="2038879" y="0"/>
                </a:moveTo>
                <a:lnTo>
                  <a:pt x="0" y="1626913"/>
                </a:lnTo>
                <a:lnTo>
                  <a:pt x="8886" y="1638026"/>
                </a:lnTo>
                <a:lnTo>
                  <a:pt x="2047727" y="11111"/>
                </a:lnTo>
                <a:lnTo>
                  <a:pt x="2038879" y="0"/>
                </a:lnTo>
                <a:close/>
              </a:path>
            </a:pathLst>
          </a:custGeom>
          <a:solidFill>
            <a:srgbClr val="C5BD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62080" y="5948300"/>
            <a:ext cx="1130300" cy="904875"/>
          </a:xfrm>
          <a:custGeom>
            <a:avLst/>
            <a:gdLst/>
            <a:ahLst/>
            <a:cxnLst/>
            <a:rect l="l" t="t" r="r" b="b"/>
            <a:pathLst>
              <a:path w="1130300" h="904875">
                <a:moveTo>
                  <a:pt x="1121338" y="0"/>
                </a:moveTo>
                <a:lnTo>
                  <a:pt x="0" y="893684"/>
                </a:lnTo>
                <a:lnTo>
                  <a:pt x="8836" y="904724"/>
                </a:lnTo>
                <a:lnTo>
                  <a:pt x="1130179" y="11046"/>
                </a:lnTo>
                <a:lnTo>
                  <a:pt x="1121338" y="0"/>
                </a:lnTo>
                <a:close/>
              </a:path>
            </a:pathLst>
          </a:custGeom>
          <a:solidFill>
            <a:srgbClr val="C5BD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57272" y="958617"/>
            <a:ext cx="6352540" cy="798680"/>
          </a:xfrm>
          <a:prstGeom prst="rect">
            <a:avLst/>
          </a:prstGeom>
        </p:spPr>
        <p:txBody>
          <a:bodyPr vert="horz" wrap="square" lIns="0" tIns="181356" rIns="0" bIns="0" rtlCol="0" anchor="t">
            <a:spAutoFit/>
          </a:bodyPr>
          <a:lstStyle/>
          <a:p>
            <a:pPr marL="2207895">
              <a:lnSpc>
                <a:spcPct val="100000"/>
              </a:lnSpc>
              <a:spcBef>
                <a:spcPts val="130"/>
              </a:spcBef>
            </a:pPr>
            <a:r>
              <a:rPr lang="en-US" sz="4000" b="1" spc="145">
                <a:solidFill>
                  <a:schemeClr val="tx1"/>
                </a:solidFill>
                <a:latin typeface="Times New Roman"/>
                <a:cs typeface="Times New Roman"/>
              </a:rPr>
              <a:t>Objectives</a:t>
            </a:r>
            <a:endParaRPr lang="en-US" sz="4000" b="1" spc="145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4138" y="2163008"/>
            <a:ext cx="4940038" cy="15497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R="6350" algn="ctr">
              <a:spcBef>
                <a:spcPts val="125"/>
              </a:spcBef>
            </a:pPr>
            <a:r>
              <a:rPr lang="en-IN" sz="2400">
                <a:latin typeface="Times New Roman"/>
                <a:cs typeface="Times New Roman"/>
              </a:rPr>
              <a:t>Automate Data Processing</a:t>
            </a:r>
            <a:endParaRPr lang="en-IN" sz="2400">
              <a:latin typeface="Times New Roman" pitchFamily="18" charset="0"/>
              <a:cs typeface="Times New Roman" pitchFamily="18" charset="0"/>
            </a:endParaRPr>
          </a:p>
          <a:p>
            <a:pPr marR="6350" algn="ctr">
              <a:lnSpc>
                <a:spcPct val="100000"/>
              </a:lnSpc>
              <a:spcBef>
                <a:spcPts val="125"/>
              </a:spcBef>
            </a:pPr>
            <a:endParaRPr lang="en-IN" sz="2000">
              <a:latin typeface="Times New Roman" pitchFamily="18" charset="0"/>
              <a:cs typeface="Times New Roman" pitchFamily="18" charset="0"/>
            </a:endParaRPr>
          </a:p>
          <a:p>
            <a:pPr marR="6350" algn="just">
              <a:lnSpc>
                <a:spcPct val="100000"/>
              </a:lnSpc>
              <a:spcBef>
                <a:spcPts val="125"/>
              </a:spcBef>
            </a:pPr>
            <a:r>
              <a:rPr lang="en-IN">
                <a:latin typeface="Times New Roman"/>
                <a:cs typeface="Times New Roman"/>
              </a:rPr>
              <a:t>Use Tableau Prep and Python integration to automate preprocessing tasks such as missing value imputation and outlier detection.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0033" y="2247227"/>
            <a:ext cx="4324044" cy="3401572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25"/>
              </a:spcBef>
            </a:pPr>
            <a:r>
              <a:rPr lang="en-IN" sz="2400">
                <a:latin typeface="Times New Roman"/>
                <a:cs typeface="Times New Roman"/>
              </a:rPr>
              <a:t>Improve Data Quality</a:t>
            </a:r>
          </a:p>
          <a:p>
            <a:pPr marR="10160" algn="ctr">
              <a:lnSpc>
                <a:spcPct val="100000"/>
              </a:lnSpc>
              <a:spcBef>
                <a:spcPts val="125"/>
              </a:spcBef>
            </a:pPr>
            <a:endParaRPr lang="en-IN" sz="2000" spc="-20">
              <a:solidFill>
                <a:srgbClr val="404040"/>
              </a:solidFill>
              <a:latin typeface="Times New Roman" pitchFamily="18" charset="0"/>
              <a:cs typeface="Times New Roman" pitchFamily="18" charset="0"/>
            </a:endParaRPr>
          </a:p>
          <a:p>
            <a:pPr marR="10160" algn="just">
              <a:lnSpc>
                <a:spcPct val="100000"/>
              </a:lnSpc>
              <a:spcBef>
                <a:spcPts val="125"/>
              </a:spcBef>
            </a:pPr>
            <a:r>
              <a:rPr lang="en-IN">
                <a:latin typeface="Times New Roman"/>
                <a:cs typeface="Times New Roman"/>
              </a:rPr>
              <a:t>Clean and standardize retail datasets by removing duplicates, handling missing values and correcting inconsistent formats.</a:t>
            </a: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lang="en-IN" sz="1400">
              <a:latin typeface="Times New Roman" pitchFamily="18" charset="0"/>
              <a:cs typeface="Times New Roman" pitchFamily="18" charset="0"/>
            </a:endParaRPr>
          </a:p>
          <a:p>
            <a:pPr marR="1270" algn="ctr">
              <a:lnSpc>
                <a:spcPct val="100000"/>
              </a:lnSpc>
            </a:pPr>
            <a:r>
              <a:rPr lang="en-IN" sz="2400">
                <a:latin typeface="Times New Roman"/>
                <a:cs typeface="Times New Roman"/>
              </a:rPr>
              <a:t>Enable Business Analysis</a:t>
            </a:r>
          </a:p>
          <a:p>
            <a:pPr marR="1270" algn="ctr">
              <a:lnSpc>
                <a:spcPct val="100000"/>
              </a:lnSpc>
            </a:pPr>
            <a:endParaRPr lang="en-IN" sz="2000" spc="-40">
              <a:solidFill>
                <a:srgbClr val="404040"/>
              </a:solidFill>
              <a:latin typeface="Times New Roman" pitchFamily="18" charset="0"/>
              <a:cs typeface="Times New Roman" pitchFamily="18" charset="0"/>
            </a:endParaRPr>
          </a:p>
          <a:p>
            <a:pPr marR="1270" algn="just">
              <a:lnSpc>
                <a:spcPct val="100000"/>
              </a:lnSpc>
            </a:pPr>
            <a:r>
              <a:rPr lang="en-IN">
                <a:latin typeface="Times New Roman"/>
                <a:cs typeface="Times New Roman"/>
              </a:rPr>
              <a:t>Integrate sales, product and store datasets to generate meaningful business insights and accurate reporting.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74138" y="3944046"/>
            <a:ext cx="4940038" cy="15497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25"/>
              </a:spcBef>
            </a:pPr>
            <a:r>
              <a:rPr lang="en-IN" sz="2400">
                <a:latin typeface="Times New Roman"/>
                <a:cs typeface="Times New Roman"/>
              </a:rPr>
              <a:t>Support Decision Making</a:t>
            </a:r>
            <a:endParaRPr lang="en-IN" sz="2400">
              <a:latin typeface="Times New Roman" pitchFamily="18" charset="0"/>
              <a:cs typeface="Times New Roman" pitchFamily="18" charset="0"/>
            </a:endParaRPr>
          </a:p>
          <a:p>
            <a:pPr marR="10795" algn="ctr">
              <a:lnSpc>
                <a:spcPct val="100000"/>
              </a:lnSpc>
              <a:spcBef>
                <a:spcPts val="125"/>
              </a:spcBef>
            </a:pPr>
            <a:endParaRPr lang="en-IN" sz="2000" spc="-10">
              <a:solidFill>
                <a:srgbClr val="404040"/>
              </a:solidFill>
              <a:latin typeface="Times New Roman" pitchFamily="18" charset="0"/>
              <a:cs typeface="Times New Roman" pitchFamily="18" charset="0"/>
            </a:endParaRPr>
          </a:p>
          <a:p>
            <a:pPr marR="10795" algn="just">
              <a:lnSpc>
                <a:spcPct val="100000"/>
              </a:lnSpc>
              <a:spcBef>
                <a:spcPts val="125"/>
              </a:spcBef>
            </a:pPr>
            <a:r>
              <a:rPr lang="en-IN">
                <a:latin typeface="Times New Roman"/>
                <a:cs typeface="Times New Roman"/>
              </a:rPr>
              <a:t>Transform raw retail data into a reliable and structured dataset for revenue analysis, trend identification and business decision-making.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1CCA5FE2-9B08-A32F-E6AD-725C6ED7F3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4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8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66235" y="-3175"/>
            <a:ext cx="5226050" cy="6864350"/>
            <a:chOff x="6966235" y="-3175"/>
            <a:chExt cx="5226050" cy="6864350"/>
          </a:xfrm>
        </p:grpSpPr>
        <p:sp>
          <p:nvSpPr>
            <p:cNvPr id="4" name="object 4"/>
            <p:cNvSpPr/>
            <p:nvPr/>
          </p:nvSpPr>
          <p:spPr>
            <a:xfrm>
              <a:off x="9101200" y="1497075"/>
              <a:ext cx="3091180" cy="6350"/>
            </a:xfrm>
            <a:custGeom>
              <a:avLst/>
              <a:gdLst/>
              <a:ahLst/>
              <a:cxnLst/>
              <a:rect l="l" t="t" r="r" b="b"/>
              <a:pathLst>
                <a:path w="3091179" h="6350">
                  <a:moveTo>
                    <a:pt x="3090799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3090799" y="6350"/>
                  </a:lnTo>
                  <a:lnTo>
                    <a:pt x="3090799" y="0"/>
                  </a:lnTo>
                  <a:close/>
                </a:path>
              </a:pathLst>
            </a:custGeom>
            <a:solidFill>
              <a:srgbClr val="E2B08D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969410" y="0"/>
              <a:ext cx="3766820" cy="6858000"/>
            </a:xfrm>
            <a:custGeom>
              <a:avLst/>
              <a:gdLst/>
              <a:ahLst/>
              <a:cxnLst/>
              <a:rect l="l" t="t" r="r" b="b"/>
              <a:pathLst>
                <a:path w="3766820" h="6858000">
                  <a:moveTo>
                    <a:pt x="3766502" y="0"/>
                  </a:moveTo>
                  <a:lnTo>
                    <a:pt x="0" y="6858000"/>
                  </a:lnTo>
                </a:path>
              </a:pathLst>
            </a:custGeom>
            <a:ln w="6350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43200" y="495300"/>
            <a:ext cx="6691629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solidFill>
                  <a:schemeClr val="tx1"/>
                </a:solidFill>
                <a:latin typeface="Times New Roman"/>
                <a:cs typeface="Times New Roman"/>
              </a:rPr>
              <a:t>Data Issues Identified</a:t>
            </a:r>
            <a:endParaRPr lang="en-US" sz="4000" b="1" spc="135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5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830" y="1562786"/>
            <a:ext cx="5597810" cy="2694969"/>
          </a:xfrm>
          <a:prstGeom prst="rect">
            <a:avLst/>
          </a:prstGeom>
        </p:spPr>
        <p:txBody>
          <a:bodyPr vert="horz" wrap="square" lIns="0" tIns="141605" rIns="0" bIns="0" rtlCol="0" anchor="t">
            <a:spAutoFit/>
          </a:bodyPr>
          <a:lstStyle/>
          <a:p>
            <a:pPr marL="285750" indent="-285750" algn="l"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Missing value analysis </a:t>
            </a:r>
          </a:p>
          <a:p>
            <a:pPr marL="285750" indent="-285750" algn="l">
              <a:spcBef>
                <a:spcPts val="1115"/>
              </a:spcBef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Duplicate detection </a:t>
            </a:r>
          </a:p>
          <a:p>
            <a:pPr marL="285750" indent="-285750" algn="l">
              <a:spcBef>
                <a:spcPts val="1115"/>
              </a:spcBef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Datatype verification </a:t>
            </a:r>
          </a:p>
          <a:p>
            <a:pPr marL="285750" indent="-285750" algn="l">
              <a:spcBef>
                <a:spcPts val="1115"/>
              </a:spcBef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Distribution analysis </a:t>
            </a:r>
          </a:p>
          <a:p>
            <a:pPr marL="285750" indent="-285750" algn="l">
              <a:spcBef>
                <a:spcPts val="1115"/>
              </a:spcBef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Invalid </a:t>
            </a:r>
            <a:r>
              <a:rPr lang="en-US" sz="2000" err="1">
                <a:solidFill>
                  <a:schemeClr val="tx1"/>
                </a:solidFill>
                <a:latin typeface="Times New Roman"/>
                <a:cs typeface="Times New Roman"/>
              </a:rPr>
              <a:t>Sale_ID</a:t>
            </a: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 detection </a:t>
            </a:r>
          </a:p>
          <a:p>
            <a:pPr marL="285750" indent="-285750" algn="l">
              <a:spcBef>
                <a:spcPts val="1115"/>
              </a:spcBef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 rot="10800000">
            <a:off x="8567928" y="-1395"/>
            <a:ext cx="3624526" cy="6862951"/>
            <a:chOff x="7134" y="-4698"/>
            <a:chExt cx="5577840" cy="6862951"/>
          </a:xfrm>
        </p:grpSpPr>
        <p:sp>
          <p:nvSpPr>
            <p:cNvPr id="3" name="object 3"/>
            <p:cNvSpPr/>
            <p:nvPr/>
          </p:nvSpPr>
          <p:spPr>
            <a:xfrm>
              <a:off x="7134" y="-4698"/>
              <a:ext cx="5577840" cy="6858000"/>
            </a:xfrm>
            <a:custGeom>
              <a:avLst/>
              <a:gdLst/>
              <a:ahLst/>
              <a:cxnLst/>
              <a:rect l="l" t="t" r="r" b="b"/>
              <a:pathLst>
                <a:path w="5577840" h="6858000">
                  <a:moveTo>
                    <a:pt x="5567836" y="9949"/>
                  </a:moveTo>
                  <a:lnTo>
                    <a:pt x="-12" y="9949"/>
                  </a:lnTo>
                  <a:lnTo>
                    <a:pt x="-12" y="6857954"/>
                  </a:lnTo>
                  <a:lnTo>
                    <a:pt x="1781248" y="6857954"/>
                  </a:lnTo>
                  <a:lnTo>
                    <a:pt x="5567836" y="9949"/>
                  </a:lnTo>
                  <a:close/>
                </a:path>
              </a:pathLst>
            </a:custGeom>
            <a:solidFill>
              <a:srgbClr val="FAF4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16319" y="4698"/>
              <a:ext cx="2437130" cy="6853555"/>
            </a:xfrm>
            <a:custGeom>
              <a:avLst/>
              <a:gdLst/>
              <a:ahLst/>
              <a:cxnLst/>
              <a:rect l="l" t="t" r="r" b="b"/>
              <a:pathLst>
                <a:path w="2437129" h="6853555">
                  <a:moveTo>
                    <a:pt x="0" y="6853301"/>
                  </a:moveTo>
                  <a:lnTo>
                    <a:pt x="2436706" y="0"/>
                  </a:lnTo>
                </a:path>
              </a:pathLst>
            </a:custGeom>
            <a:ln w="6350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265A852F-99C3-718B-D00D-2F44B27B42A4}"/>
              </a:ext>
            </a:extLst>
          </p:cNvPr>
          <p:cNvSpPr txBox="1">
            <a:spLocks/>
          </p:cNvSpPr>
          <p:nvPr/>
        </p:nvSpPr>
        <p:spPr>
          <a:xfrm>
            <a:off x="4305300" y="355600"/>
            <a:ext cx="3581400" cy="575157"/>
          </a:xfrm>
          <a:prstGeom prst="rect">
            <a:avLst/>
          </a:prstGeom>
        </p:spPr>
        <p:txBody>
          <a:bodyPr vert="horz" wrap="square" lIns="0" tIns="74295" rIns="0" bIns="0" rtlCol="0" anchor="t">
            <a:spAutoFit/>
          </a:bodyPr>
          <a:lstStyle>
            <a:lvl1pPr>
              <a:defRPr sz="2750" b="0" i="0">
                <a:solidFill>
                  <a:srgbClr val="404040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5080">
              <a:lnSpc>
                <a:spcPts val="3900"/>
              </a:lnSpc>
              <a:spcBef>
                <a:spcPts val="585"/>
              </a:spcBef>
            </a:pPr>
            <a:r>
              <a:rPr lang="en-IN" sz="4000" b="1">
                <a:solidFill>
                  <a:schemeClr val="tx1"/>
                </a:solidFill>
                <a:latin typeface="Times New Roman"/>
                <a:cs typeface="Times New Roman"/>
              </a:rPr>
              <a:t>Data Profiling</a:t>
            </a:r>
            <a:endParaRPr lang="en-US" sz="40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57D6A-C077-21F8-68F9-7D7E11408552}"/>
              </a:ext>
            </a:extLst>
          </p:cNvPr>
          <p:cNvSpPr txBox="1"/>
          <p:nvPr/>
        </p:nvSpPr>
        <p:spPr>
          <a:xfrm>
            <a:off x="2578165" y="1709554"/>
            <a:ext cx="510540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  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Checked missing values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Verified datatypes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Analyzed value distributions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Identified duplicates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Checked invalid formats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Detected outliers</a:t>
            </a:r>
          </a:p>
          <a:p>
            <a:endParaRPr lang="en-IN" sz="2000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C8FC80-F4EF-F17A-269D-18208668EFC3}"/>
              </a:ext>
            </a:extLst>
          </p:cNvPr>
          <p:cNvSpPr txBox="1"/>
          <p:nvPr/>
        </p:nvSpPr>
        <p:spPr>
          <a:xfrm>
            <a:off x="2581754" y="1195245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Times New Roman"/>
                <a:cs typeface="Times New Roman"/>
              </a:rPr>
              <a:t>Profiling Activities</a:t>
            </a:r>
            <a:endParaRPr lang="en-US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0D0D6484-4C93-E200-7DCB-C4F3B08205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6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610168-A37C-C24D-06C4-FD8FD76B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934D83C-0104-1359-BCDA-B81C3014170B}"/>
              </a:ext>
            </a:extLst>
          </p:cNvPr>
          <p:cNvGrpSpPr/>
          <p:nvPr/>
        </p:nvGrpSpPr>
        <p:grpSpPr>
          <a:xfrm rot="10800000">
            <a:off x="8567928" y="-1395"/>
            <a:ext cx="3624526" cy="6862951"/>
            <a:chOff x="7134" y="-4698"/>
            <a:chExt cx="5577840" cy="6862951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4290939-557F-E5D1-C1BE-1E45CC065A68}"/>
                </a:ext>
              </a:extLst>
            </p:cNvPr>
            <p:cNvSpPr/>
            <p:nvPr/>
          </p:nvSpPr>
          <p:spPr>
            <a:xfrm>
              <a:off x="7134" y="-4698"/>
              <a:ext cx="5577840" cy="6858000"/>
            </a:xfrm>
            <a:custGeom>
              <a:avLst/>
              <a:gdLst/>
              <a:ahLst/>
              <a:cxnLst/>
              <a:rect l="l" t="t" r="r" b="b"/>
              <a:pathLst>
                <a:path w="5577840" h="6858000">
                  <a:moveTo>
                    <a:pt x="5567836" y="9949"/>
                  </a:moveTo>
                  <a:lnTo>
                    <a:pt x="-12" y="9949"/>
                  </a:lnTo>
                  <a:lnTo>
                    <a:pt x="-12" y="6857954"/>
                  </a:lnTo>
                  <a:lnTo>
                    <a:pt x="1781248" y="6857954"/>
                  </a:lnTo>
                  <a:lnTo>
                    <a:pt x="5567836" y="9949"/>
                  </a:lnTo>
                  <a:close/>
                </a:path>
              </a:pathLst>
            </a:custGeom>
            <a:solidFill>
              <a:srgbClr val="FAF4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C55909-A26A-996C-3C3F-5315C3F6F9D4}"/>
                </a:ext>
              </a:extLst>
            </p:cNvPr>
            <p:cNvSpPr/>
            <p:nvPr/>
          </p:nvSpPr>
          <p:spPr>
            <a:xfrm>
              <a:off x="2216319" y="4698"/>
              <a:ext cx="2437130" cy="6853555"/>
            </a:xfrm>
            <a:custGeom>
              <a:avLst/>
              <a:gdLst/>
              <a:ahLst/>
              <a:cxnLst/>
              <a:rect l="l" t="t" r="r" b="b"/>
              <a:pathLst>
                <a:path w="2437129" h="6853555">
                  <a:moveTo>
                    <a:pt x="0" y="6853301"/>
                  </a:moveTo>
                  <a:lnTo>
                    <a:pt x="2436706" y="0"/>
                  </a:lnTo>
                </a:path>
              </a:pathLst>
            </a:custGeom>
            <a:ln w="6350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F76B9AB-CA9C-C511-42A2-2CC2ADCB0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646" y="176204"/>
            <a:ext cx="7719964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3001645" algn="l"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 Dataset Cleaning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79E02FE-4047-DB98-636A-5444242F3FC9}"/>
              </a:ext>
            </a:extLst>
          </p:cNvPr>
          <p:cNvSpPr txBox="1"/>
          <p:nvPr/>
        </p:nvSpPr>
        <p:spPr>
          <a:xfrm>
            <a:off x="1051895" y="850216"/>
            <a:ext cx="9572819" cy="4655762"/>
          </a:xfrm>
          <a:prstGeom prst="rect">
            <a:avLst/>
          </a:prstGeom>
        </p:spPr>
        <p:txBody>
          <a:bodyPr vert="horz" wrap="square" lIns="0" tIns="99695" rIns="0" bIns="0" rtlCol="0" anchor="t">
            <a:spAutoFit/>
          </a:bodyPr>
          <a:lstStyle/>
          <a:p>
            <a:pPr algn="l"/>
            <a:r>
              <a:rPr lang="en-IN" sz="2000" b="1">
                <a:latin typeface="Times New Roman"/>
                <a:cs typeface="Times New Roman"/>
              </a:rPr>
              <a:t>Cleaning Operations Performed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IN" sz="2000">
              <a:latin typeface="Times New Roman"/>
              <a:cs typeface="Times New Roman"/>
            </a:endParaRPr>
          </a:p>
          <a:p>
            <a:pPr algn="l"/>
            <a:r>
              <a:rPr lang="en-IN" sz="2000" b="1" err="1">
                <a:latin typeface="Times New Roman"/>
                <a:cs typeface="Times New Roman"/>
              </a:rPr>
              <a:t>Product_Name</a:t>
            </a:r>
            <a:endParaRPr lang="en-IN" sz="2000" b="1">
              <a:latin typeface="Times New Roman"/>
              <a:cs typeface="Times New Roman"/>
            </a:endParaRPr>
          </a:p>
          <a:p>
            <a:pPr algn="l"/>
            <a:endParaRPr lang="en-IN" sz="2000"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IN" sz="2000">
                <a:latin typeface="Times New Roman"/>
                <a:cs typeface="Times New Roman"/>
              </a:rPr>
              <a:t>Converted to Title Case </a:t>
            </a:r>
          </a:p>
          <a:p>
            <a:pPr marL="342900" indent="-342900" algn="l">
              <a:buChar char="•"/>
            </a:pPr>
            <a:r>
              <a:rPr lang="en-IN" sz="2000">
                <a:latin typeface="Times New Roman"/>
                <a:cs typeface="Times New Roman"/>
              </a:rPr>
              <a:t>Removed punctuation </a:t>
            </a:r>
          </a:p>
          <a:p>
            <a:pPr marL="342900" indent="-342900" algn="l">
              <a:buChar char="•"/>
            </a:pPr>
            <a:r>
              <a:rPr lang="en-IN" sz="2000">
                <a:latin typeface="Times New Roman"/>
                <a:cs typeface="Times New Roman"/>
              </a:rPr>
              <a:t>Grouped inconsistent names </a:t>
            </a:r>
          </a:p>
          <a:p>
            <a:pPr algn="l"/>
            <a:endParaRPr lang="en-US" sz="2000">
              <a:latin typeface="Times New Roman"/>
              <a:cs typeface="Times New Roman"/>
            </a:endParaRPr>
          </a:p>
          <a:p>
            <a:pPr algn="l"/>
            <a:r>
              <a:rPr lang="en-IN" sz="2000" b="1">
                <a:latin typeface="Times New Roman"/>
                <a:cs typeface="Times New Roman"/>
              </a:rPr>
              <a:t>Price Cleaning</a:t>
            </a:r>
          </a:p>
          <a:p>
            <a:pPr algn="l"/>
            <a:endParaRPr lang="en-IN" sz="2000" b="1">
              <a:latin typeface="Times New Roman"/>
              <a:cs typeface="Times New Roman"/>
            </a:endParaRPr>
          </a:p>
          <a:p>
            <a:pPr algn="l"/>
            <a:r>
              <a:rPr lang="en-IN" sz="2000">
                <a:latin typeface="Times New Roman"/>
                <a:cs typeface="Times New Roman"/>
              </a:rPr>
              <a:t>Created:</a:t>
            </a:r>
          </a:p>
          <a:p>
            <a:pPr marL="342900" indent="-342900" algn="l">
              <a:buChar char="•"/>
            </a:pPr>
            <a:r>
              <a:rPr lang="en-IN" sz="2000" err="1">
                <a:latin typeface="Times New Roman"/>
                <a:cs typeface="Times New Roman"/>
              </a:rPr>
              <a:t>Manufacture_Cost_Clean</a:t>
            </a:r>
            <a:r>
              <a:rPr lang="en-IN" sz="2000">
                <a:latin typeface="Times New Roman"/>
                <a:cs typeface="Times New Roman"/>
              </a:rPr>
              <a:t> </a:t>
            </a:r>
          </a:p>
          <a:p>
            <a:pPr marL="342900" indent="-342900" algn="l">
              <a:buChar char="•"/>
            </a:pPr>
            <a:r>
              <a:rPr lang="en-IN" sz="2000" err="1">
                <a:latin typeface="Times New Roman"/>
                <a:cs typeface="Times New Roman"/>
              </a:rPr>
              <a:t>Sales_Price_Clean</a:t>
            </a:r>
            <a:r>
              <a:rPr lang="en-IN" sz="2000">
                <a:latin typeface="Times New Roman"/>
                <a:cs typeface="Times New Roman"/>
              </a:rPr>
              <a:t> </a:t>
            </a:r>
          </a:p>
          <a:p>
            <a:pPr algn="l"/>
            <a:endParaRPr lang="en-IN" sz="2000">
              <a:latin typeface="Times New Roman"/>
              <a:cs typeface="Times New Roman"/>
            </a:endParaRPr>
          </a:p>
          <a:p>
            <a:endParaRPr lang="en-IN" sz="1600" b="1">
              <a:latin typeface="Times New Roman"/>
              <a:cs typeface="Times New Roman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16A7317A-4599-68A4-E3D5-9D012D9867B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7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0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7" y="1650"/>
            <a:ext cx="2245360" cy="3110230"/>
            <a:chOff x="1587" y="1650"/>
            <a:chExt cx="2245360" cy="3110230"/>
          </a:xfrm>
        </p:grpSpPr>
        <p:sp>
          <p:nvSpPr>
            <p:cNvPr id="3" name="object 3"/>
            <p:cNvSpPr/>
            <p:nvPr/>
          </p:nvSpPr>
          <p:spPr>
            <a:xfrm>
              <a:off x="4762" y="4825"/>
              <a:ext cx="1238250" cy="3105150"/>
            </a:xfrm>
            <a:custGeom>
              <a:avLst/>
              <a:gdLst/>
              <a:ahLst/>
              <a:cxnLst/>
              <a:rect l="l" t="t" r="r" b="b"/>
              <a:pathLst>
                <a:path w="1238250" h="3105150">
                  <a:moveTo>
                    <a:pt x="1238249" y="0"/>
                  </a:moveTo>
                  <a:lnTo>
                    <a:pt x="0" y="3105150"/>
                  </a:lnTo>
                </a:path>
              </a:pathLst>
            </a:custGeom>
            <a:ln w="3175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2" y="4825"/>
              <a:ext cx="2239010" cy="2476500"/>
            </a:xfrm>
            <a:custGeom>
              <a:avLst/>
              <a:gdLst/>
              <a:ahLst/>
              <a:cxnLst/>
              <a:rect l="l" t="t" r="r" b="b"/>
              <a:pathLst>
                <a:path w="2239010" h="2476500">
                  <a:moveTo>
                    <a:pt x="2238438" y="0"/>
                  </a:moveTo>
                  <a:lnTo>
                    <a:pt x="0" y="2476500"/>
                  </a:lnTo>
                </a:path>
              </a:pathLst>
            </a:custGeom>
            <a:ln w="6350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58028" y="187906"/>
            <a:ext cx="8533112" cy="798680"/>
          </a:xfrm>
          <a:prstGeom prst="rect">
            <a:avLst/>
          </a:prstGeom>
        </p:spPr>
        <p:txBody>
          <a:bodyPr vert="horz" wrap="square" lIns="0" tIns="181356" rIns="0" bIns="0" rtlCol="0" anchor="t">
            <a:spAutoFit/>
          </a:bodyPr>
          <a:lstStyle/>
          <a:p>
            <a:pPr marL="1408430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Standardizing Data Formats</a:t>
            </a:r>
            <a:endParaRPr lang="en-US" sz="4000" b="1" spc="15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97416" y="1120384"/>
            <a:ext cx="9169400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Problems</a:t>
            </a:r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b="1">
              <a:latin typeface="Times New Roman"/>
              <a:cs typeface="Times New Roman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Currency symbols in price columns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Invalid date characters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Inconsistent category names</a:t>
            </a:r>
          </a:p>
          <a:p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Transformations Applied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Currency Cleaning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pPr rtl="0"/>
            <a:r>
              <a:rPr lang="en-US">
                <a:latin typeface="Times New Roman"/>
                <a:cs typeface="Times New Roman"/>
              </a:rPr>
              <a:t>FLOAT(REPLACE([</a:t>
            </a:r>
            <a:r>
              <a:rPr lang="en-US" err="1">
                <a:latin typeface="Times New Roman"/>
                <a:cs typeface="Times New Roman"/>
              </a:rPr>
              <a:t>Sales_Price</a:t>
            </a:r>
            <a:r>
              <a:rPr lang="en-US">
                <a:latin typeface="Times New Roman"/>
                <a:cs typeface="Times New Roman"/>
              </a:rPr>
              <a:t>], "$", ""))</a:t>
            </a:r>
          </a:p>
          <a:p>
            <a:pPr rtl="0"/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Date Cleaning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Removed invalid characters and unwanted symbols from date fields to maintain a consistent date format.</a:t>
            </a:r>
          </a:p>
          <a:p>
            <a:pPr marL="342900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Standardized date values to enable accurate sorting, filtering, and quarterly analysis.</a:t>
            </a:r>
          </a:p>
          <a:p>
            <a:endParaRPr lang="en-IN">
              <a:latin typeface="Times New Roman"/>
              <a:cs typeface="Times New Roman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05BFA841-1630-BA18-8A45-7A8B3907293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8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729" y="-3704"/>
            <a:ext cx="4177029" cy="3843020"/>
            <a:chOff x="24729" y="-3704"/>
            <a:chExt cx="4177029" cy="3843020"/>
          </a:xfrm>
        </p:grpSpPr>
        <p:sp>
          <p:nvSpPr>
            <p:cNvPr id="4" name="object 4"/>
            <p:cNvSpPr/>
            <p:nvPr/>
          </p:nvSpPr>
          <p:spPr>
            <a:xfrm>
              <a:off x="28573" y="139"/>
              <a:ext cx="2440305" cy="3835400"/>
            </a:xfrm>
            <a:custGeom>
              <a:avLst/>
              <a:gdLst/>
              <a:ahLst/>
              <a:cxnLst/>
              <a:rect l="l" t="t" r="r" b="b"/>
              <a:pathLst>
                <a:path w="2440305" h="3835400">
                  <a:moveTo>
                    <a:pt x="0" y="2458277"/>
                  </a:moveTo>
                  <a:lnTo>
                    <a:pt x="1610391" y="1308913"/>
                  </a:lnTo>
                  <a:lnTo>
                    <a:pt x="1715682" y="0"/>
                  </a:lnTo>
                </a:path>
                <a:path w="2440305" h="3835400">
                  <a:moveTo>
                    <a:pt x="0" y="3834872"/>
                  </a:moveTo>
                  <a:lnTo>
                    <a:pt x="1383611" y="3256414"/>
                  </a:lnTo>
                  <a:lnTo>
                    <a:pt x="374436" y="0"/>
                  </a:lnTo>
                </a:path>
                <a:path w="2440305" h="3835400">
                  <a:moveTo>
                    <a:pt x="0" y="3057127"/>
                  </a:moveTo>
                  <a:lnTo>
                    <a:pt x="1866657" y="2443557"/>
                  </a:lnTo>
                  <a:lnTo>
                    <a:pt x="2439748" y="0"/>
                  </a:lnTo>
                </a:path>
              </a:pathLst>
            </a:custGeom>
            <a:ln w="7683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573" y="139"/>
              <a:ext cx="4169410" cy="1553845"/>
            </a:xfrm>
            <a:custGeom>
              <a:avLst/>
              <a:gdLst/>
              <a:ahLst/>
              <a:cxnLst/>
              <a:rect l="l" t="t" r="r" b="b"/>
              <a:pathLst>
                <a:path w="4169410" h="1553845">
                  <a:moveTo>
                    <a:pt x="0" y="1553510"/>
                  </a:moveTo>
                  <a:lnTo>
                    <a:pt x="4169061" y="0"/>
                  </a:lnTo>
                </a:path>
              </a:pathLst>
            </a:custGeom>
            <a:ln w="7688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5111" y="523061"/>
            <a:ext cx="6352540" cy="798680"/>
          </a:xfrm>
          <a:prstGeom prst="rect">
            <a:avLst/>
          </a:prstGeom>
        </p:spPr>
        <p:txBody>
          <a:bodyPr vert="horz" wrap="square" lIns="0" tIns="181356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Union Operation</a:t>
            </a:r>
            <a:endParaRPr lang="en-US" sz="4000" b="1" spc="16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7648" y="1509183"/>
            <a:ext cx="7958074" cy="3402213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algn="just"/>
            <a:r>
              <a:rPr lang="en-US" sz="2000" b="1">
                <a:latin typeface="Times New Roman"/>
                <a:cs typeface="Times New Roman"/>
              </a:rPr>
              <a:t>Purpose</a:t>
            </a:r>
            <a:endParaRPr lang="en-US" sz="20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/>
            <a:endParaRPr lang="en-US" sz="2000" b="1">
              <a:latin typeface="Times New Roman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Combine yearly sales datasets into one dataset.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Transformation Applied</a:t>
            </a:r>
          </a:p>
          <a:p>
            <a:pPr algn="just"/>
            <a:endParaRPr lang="en-US" sz="2000" b="1">
              <a:latin typeface="Times New Roman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Union operation between sales_2022 and sales_2023 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Result</a:t>
            </a:r>
          </a:p>
          <a:p>
            <a:pPr algn="just"/>
            <a:r>
              <a:rPr lang="en-US" sz="2000">
                <a:latin typeface="Times New Roman"/>
                <a:cs typeface="Times New Roman"/>
              </a:rPr>
              <a:t>Unified sales dataset created </a:t>
            </a:r>
          </a:p>
          <a:p>
            <a:pPr algn="just"/>
            <a:r>
              <a:rPr lang="en-US" sz="2000">
                <a:latin typeface="Times New Roman"/>
                <a:cs typeface="Times New Roman"/>
              </a:rPr>
              <a:t>Easier yearly reporting and analysis</a:t>
            </a: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A2A9883D-B8B6-FCF6-A803-4DC978EA68D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1778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9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438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44518" y="400845"/>
            <a:ext cx="3898265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000" b="1" spc="130" dirty="0">
                <a:latin typeface="Times New Roman"/>
                <a:cs typeface="Times New Roman"/>
              </a:rPr>
              <a:t>Join 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12936" y="1155700"/>
            <a:ext cx="8163561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Purpose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Combine sales, product and store data into one integrated dataset.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082072"/>
              </p:ext>
            </p:extLst>
          </p:nvPr>
        </p:nvGraphicFramePr>
        <p:xfrm>
          <a:off x="2006601" y="2298661"/>
          <a:ext cx="7772389" cy="2925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0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9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400" spc="9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lang="en-US" sz="1400" spc="9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Operations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solidFill>
                      <a:srgbClr val="E2B0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B0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B0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B0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B0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B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200" spc="-1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lang="en-US" sz="1200" spc="-1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Table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74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200" spc="-1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lang="en-US" sz="1200" spc="-1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200" spc="-2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Common 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20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lang="en-US" sz="120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lang="en-US" sz="12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B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algn="ctr">
                        <a:lnSpc>
                          <a:spcPct val="100000"/>
                        </a:lnSpc>
                      </a:pPr>
                      <a:r>
                        <a:rPr lang="en-US" sz="1200" spc="-2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lang="en-US" sz="1200" spc="-2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 algn="ctr">
                        <a:lnSpc>
                          <a:spcPct val="100000"/>
                        </a:lnSpc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Sales 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5570" algn="ctr">
                        <a:lnSpc>
                          <a:spcPct val="100000"/>
                        </a:lnSpc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Products 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7630" algn="ctr">
                        <a:lnSpc>
                          <a:spcPct val="100000"/>
                        </a:lnSpc>
                      </a:pPr>
                      <a:r>
                        <a:rPr lang="en-IN" sz="1200" err="1">
                          <a:latin typeface="Times New Roman"/>
                          <a:cs typeface="Times New Roman"/>
                        </a:rPr>
                        <a:t>Product_ID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ct val="100000"/>
                        </a:lnSpc>
                      </a:pPr>
                      <a:r>
                        <a:rPr lang="en-US" sz="1200" spc="-1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Inner Join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Combine sales transactions with product details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algn="ctr">
                        <a:lnSpc>
                          <a:spcPct val="100000"/>
                        </a:lnSpc>
                      </a:pPr>
                      <a:r>
                        <a:rPr lang="en-US" sz="1200" spc="-2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lang="en-US" sz="1200" spc="-2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 algn="ctr">
                        <a:lnSpc>
                          <a:spcPct val="100000"/>
                        </a:lnSpc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Joined Sales + Products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lang="en-IN" sz="12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85"/>
                        </a:spcBef>
                        <a:buNone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 Stores Dataset</a:t>
                      </a:r>
                      <a:endParaRPr lang="en-US"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7630" algn="ctr">
                        <a:lnSpc>
                          <a:spcPct val="100000"/>
                        </a:lnSpc>
                      </a:pPr>
                      <a:r>
                        <a:rPr lang="en-IN" sz="1200" err="1">
                          <a:latin typeface="Times New Roman"/>
                          <a:cs typeface="Times New Roman"/>
                        </a:rPr>
                        <a:t>Store_ID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2225" algn="ctr">
                        <a:lnSpc>
                          <a:spcPct val="100000"/>
                        </a:lnSpc>
                      </a:pPr>
                      <a:r>
                        <a:rPr lang="en-US" sz="1200" spc="-1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Inner Join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Add store information and location details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T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n-US" sz="1200" spc="-2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lang="en-US" sz="1200" spc="-20" baseline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endParaRPr lang="en-US" sz="12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 Overall Revenue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endParaRPr lang="en-US" sz="1200" b="0" i="0" u="none" strike="noStrike" noProof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 Store Revenue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    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         Value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    Inner Join</a:t>
                      </a: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395"/>
                        </a:spcBef>
                        <a:buNone/>
                      </a:pPr>
                      <a:endParaRPr lang="en-US"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>
                      <a:solidFill>
                        <a:srgbClr val="E2B08D"/>
                      </a:solidFill>
                      <a:prstDash val="soli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Calculated each store's contribution to total revenue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T w="12700" cap="flat" cmpd="sng" algn="ctr">
                      <a:solidFill>
                        <a:srgbClr val="E2B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B0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8758301" y="4825"/>
            <a:ext cx="3434079" cy="1409065"/>
          </a:xfrm>
          <a:custGeom>
            <a:avLst/>
            <a:gdLst/>
            <a:ahLst/>
            <a:cxnLst/>
            <a:rect l="l" t="t" r="r" b="b"/>
            <a:pathLst>
              <a:path w="3434079" h="1409065">
                <a:moveTo>
                  <a:pt x="1428750" y="0"/>
                </a:moveTo>
                <a:lnTo>
                  <a:pt x="3433699" y="1408787"/>
                </a:lnTo>
              </a:path>
              <a:path w="3434079" h="1409065">
                <a:moveTo>
                  <a:pt x="0" y="0"/>
                </a:moveTo>
                <a:lnTo>
                  <a:pt x="3433699" y="575811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C18AADA-3E2C-F9A7-3913-9BA95300E73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10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 rot="16200000">
            <a:off x="7121463" y="1310386"/>
            <a:ext cx="6250806" cy="3886064"/>
            <a:chOff x="56" y="109"/>
            <a:chExt cx="5139055" cy="6858000"/>
          </a:xfrm>
        </p:grpSpPr>
        <p:sp>
          <p:nvSpPr>
            <p:cNvPr id="3" name="object 3"/>
            <p:cNvSpPr/>
            <p:nvPr/>
          </p:nvSpPr>
          <p:spPr>
            <a:xfrm>
              <a:off x="56" y="109"/>
              <a:ext cx="5139055" cy="6858000"/>
            </a:xfrm>
            <a:custGeom>
              <a:avLst/>
              <a:gdLst/>
              <a:ahLst/>
              <a:cxnLst/>
              <a:rect l="l" t="t" r="r" b="b"/>
              <a:pathLst>
                <a:path w="5139055" h="6858000">
                  <a:moveTo>
                    <a:pt x="0" y="430291"/>
                  </a:moveTo>
                  <a:lnTo>
                    <a:pt x="3444817" y="2254152"/>
                  </a:lnTo>
                  <a:lnTo>
                    <a:pt x="2344066" y="6857888"/>
                  </a:lnTo>
                </a:path>
                <a:path w="5139055" h="6858000">
                  <a:moveTo>
                    <a:pt x="0" y="2404493"/>
                  </a:moveTo>
                  <a:lnTo>
                    <a:pt x="1677281" y="0"/>
                  </a:lnTo>
                </a:path>
                <a:path w="5139055" h="6858000">
                  <a:moveTo>
                    <a:pt x="2447891" y="0"/>
                  </a:moveTo>
                  <a:lnTo>
                    <a:pt x="5138529" y="3419743"/>
                  </a:lnTo>
                  <a:lnTo>
                    <a:pt x="3733047" y="6092443"/>
                  </a:lnTo>
                  <a:lnTo>
                    <a:pt x="0" y="5246180"/>
                  </a:lnTo>
                </a:path>
                <a:path w="5139055" h="6858000">
                  <a:moveTo>
                    <a:pt x="0" y="800653"/>
                  </a:moveTo>
                  <a:lnTo>
                    <a:pt x="1931258" y="3419743"/>
                  </a:lnTo>
                  <a:lnTo>
                    <a:pt x="0" y="6266738"/>
                  </a:lnTo>
                </a:path>
              </a:pathLst>
            </a:custGeom>
            <a:ln w="6547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" y="949967"/>
              <a:ext cx="3609975" cy="4587875"/>
            </a:xfrm>
            <a:custGeom>
              <a:avLst/>
              <a:gdLst/>
              <a:ahLst/>
              <a:cxnLst/>
              <a:rect l="l" t="t" r="r" b="b"/>
              <a:pathLst>
                <a:path w="3609975" h="4587875">
                  <a:moveTo>
                    <a:pt x="0" y="596549"/>
                  </a:moveTo>
                  <a:lnTo>
                    <a:pt x="2546014" y="2669247"/>
                  </a:lnTo>
                  <a:lnTo>
                    <a:pt x="0" y="4587659"/>
                  </a:lnTo>
                </a:path>
                <a:path w="3609975" h="4587875">
                  <a:moveTo>
                    <a:pt x="0" y="1453807"/>
                  </a:moveTo>
                  <a:lnTo>
                    <a:pt x="2487683" y="0"/>
                  </a:lnTo>
                  <a:lnTo>
                    <a:pt x="3609918" y="3850701"/>
                  </a:lnTo>
                  <a:lnTo>
                    <a:pt x="0" y="4494069"/>
                  </a:lnTo>
                </a:path>
                <a:path w="3609975" h="4587875">
                  <a:moveTo>
                    <a:pt x="0" y="3857717"/>
                  </a:moveTo>
                  <a:lnTo>
                    <a:pt x="388914" y="2959471"/>
                  </a:lnTo>
                  <a:lnTo>
                    <a:pt x="0" y="2515233"/>
                  </a:lnTo>
                </a:path>
                <a:path w="3609975" h="4587875">
                  <a:moveTo>
                    <a:pt x="0" y="1680289"/>
                  </a:moveTo>
                  <a:lnTo>
                    <a:pt x="1292535" y="2742216"/>
                  </a:lnTo>
                  <a:lnTo>
                    <a:pt x="0" y="3400553"/>
                  </a:lnTo>
                </a:path>
                <a:path w="3609975" h="4587875">
                  <a:moveTo>
                    <a:pt x="0" y="2063861"/>
                  </a:moveTo>
                  <a:lnTo>
                    <a:pt x="505449" y="2552625"/>
                  </a:lnTo>
                  <a:lnTo>
                    <a:pt x="0" y="2930825"/>
                  </a:lnTo>
                </a:path>
                <a:path w="3609975" h="4587875">
                  <a:moveTo>
                    <a:pt x="0" y="1220873"/>
                  </a:moveTo>
                  <a:lnTo>
                    <a:pt x="1151907" y="2163544"/>
                  </a:lnTo>
                  <a:lnTo>
                    <a:pt x="39056" y="3942958"/>
                  </a:lnTo>
                  <a:lnTo>
                    <a:pt x="0" y="3885588"/>
                  </a:lnTo>
                </a:path>
              </a:pathLst>
            </a:custGeom>
            <a:ln w="6547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7257" y="425726"/>
            <a:ext cx="9884663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3001645" algn="l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Calculated Fields</a:t>
            </a:r>
            <a:endParaRPr lang="en-US" sz="4000" b="1" spc="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614" y="1379762"/>
            <a:ext cx="7955336" cy="3342582"/>
          </a:xfrm>
          <a:prstGeom prst="rect">
            <a:avLst/>
          </a:prstGeom>
        </p:spPr>
        <p:txBody>
          <a:bodyPr vert="horz" wrap="square" lIns="0" tIns="140335" rIns="0" bIns="0" rtlCol="0" anchor="t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Revenue Calculation Formula</a:t>
            </a:r>
          </a:p>
          <a:p>
            <a:pPr rtl="0"/>
            <a:endParaRPr lang="en-US" sz="2000">
              <a:latin typeface="Times New Roman"/>
              <a:cs typeface="Times New Roman"/>
            </a:endParaRPr>
          </a:p>
          <a:p>
            <a:pPr rtl="0"/>
            <a:r>
              <a:rPr lang="en-US" sz="1600">
                <a:latin typeface="Times New Roman"/>
                <a:cs typeface="Times New Roman"/>
              </a:rPr>
              <a:t>[</a:t>
            </a:r>
            <a:r>
              <a:rPr lang="en-US" sz="1600" err="1">
                <a:latin typeface="Times New Roman"/>
                <a:cs typeface="Times New Roman"/>
              </a:rPr>
              <a:t>Sales_Price_Clean</a:t>
            </a:r>
            <a:r>
              <a:rPr lang="en-US" sz="1600">
                <a:latin typeface="Times New Roman"/>
                <a:cs typeface="Times New Roman"/>
              </a:rPr>
              <a:t>] * [Units]</a:t>
            </a:r>
          </a:p>
          <a:p>
            <a:pPr rtl="0"/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Profit Margin Calculation Formula</a:t>
            </a:r>
          </a:p>
          <a:p>
            <a:pPr rtl="0"/>
            <a:endParaRPr lang="en-US" sz="2000">
              <a:latin typeface="Times New Roman"/>
              <a:cs typeface="Times New Roman"/>
            </a:endParaRPr>
          </a:p>
          <a:p>
            <a:pPr rtl="0"/>
            <a:r>
              <a:rPr lang="en-US" sz="1600">
                <a:latin typeface="Times New Roman"/>
                <a:cs typeface="Times New Roman"/>
              </a:rPr>
              <a:t>(([</a:t>
            </a:r>
            <a:r>
              <a:rPr lang="en-US" sz="1600" err="1">
                <a:latin typeface="Times New Roman"/>
                <a:cs typeface="Times New Roman"/>
              </a:rPr>
              <a:t>Sales_Price_Clean</a:t>
            </a:r>
            <a:r>
              <a:rPr lang="en-US" sz="1600">
                <a:latin typeface="Times New Roman"/>
                <a:cs typeface="Times New Roman"/>
              </a:rPr>
              <a:t>] - [</a:t>
            </a:r>
            <a:r>
              <a:rPr lang="en-US" sz="1600" err="1">
                <a:latin typeface="Times New Roman"/>
                <a:cs typeface="Times New Roman"/>
              </a:rPr>
              <a:t>Manufacture_Cost</a:t>
            </a:r>
            <a:r>
              <a:rPr lang="en-US" sz="1600">
                <a:latin typeface="Times New Roman"/>
                <a:cs typeface="Times New Roman"/>
              </a:rPr>
              <a:t>]) /[</a:t>
            </a:r>
            <a:r>
              <a:rPr lang="en-US" sz="1600" err="1">
                <a:latin typeface="Times New Roman"/>
                <a:cs typeface="Times New Roman"/>
              </a:rPr>
              <a:t>Manufacture_Cost</a:t>
            </a:r>
            <a:r>
              <a:rPr lang="en-US" sz="1600">
                <a:latin typeface="Times New Roman"/>
                <a:cs typeface="Times New Roman"/>
              </a:rPr>
              <a:t>]) * 100</a:t>
            </a:r>
          </a:p>
          <a:p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Quarter Number Formula</a:t>
            </a:r>
          </a:p>
          <a:p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 rtl="0"/>
            <a:r>
              <a:rPr lang="en-US" sz="1600">
                <a:latin typeface="Times New Roman" pitchFamily="18" charset="0"/>
                <a:cs typeface="Times New Roman" pitchFamily="18" charset="0"/>
              </a:rPr>
              <a:t>DATEPART('quarter', [Date])</a:t>
            </a: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0BBA94C2-8F61-3EE6-5AEE-944185202CE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11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7" y="1650"/>
            <a:ext cx="2245360" cy="3110230"/>
            <a:chOff x="1587" y="1650"/>
            <a:chExt cx="2245360" cy="3110230"/>
          </a:xfrm>
        </p:grpSpPr>
        <p:sp>
          <p:nvSpPr>
            <p:cNvPr id="3" name="object 3"/>
            <p:cNvSpPr/>
            <p:nvPr/>
          </p:nvSpPr>
          <p:spPr>
            <a:xfrm>
              <a:off x="4762" y="4825"/>
              <a:ext cx="1238250" cy="3105150"/>
            </a:xfrm>
            <a:custGeom>
              <a:avLst/>
              <a:gdLst/>
              <a:ahLst/>
              <a:cxnLst/>
              <a:rect l="l" t="t" r="r" b="b"/>
              <a:pathLst>
                <a:path w="1238250" h="3105150">
                  <a:moveTo>
                    <a:pt x="1238249" y="0"/>
                  </a:moveTo>
                  <a:lnTo>
                    <a:pt x="0" y="3105150"/>
                  </a:lnTo>
                </a:path>
              </a:pathLst>
            </a:custGeom>
            <a:ln w="3175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2" y="4825"/>
              <a:ext cx="2239010" cy="2476500"/>
            </a:xfrm>
            <a:custGeom>
              <a:avLst/>
              <a:gdLst/>
              <a:ahLst/>
              <a:cxnLst/>
              <a:rect l="l" t="t" r="r" b="b"/>
              <a:pathLst>
                <a:path w="2239010" h="2476500">
                  <a:moveTo>
                    <a:pt x="2238438" y="0"/>
                  </a:moveTo>
                  <a:lnTo>
                    <a:pt x="0" y="2476500"/>
                  </a:lnTo>
                </a:path>
              </a:pathLst>
            </a:custGeom>
            <a:ln w="6350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57400" y="0"/>
            <a:ext cx="7774940" cy="798680"/>
          </a:xfrm>
          <a:prstGeom prst="rect">
            <a:avLst/>
          </a:prstGeom>
        </p:spPr>
        <p:txBody>
          <a:bodyPr vert="horz" wrap="square" lIns="0" tIns="181356" rIns="0" bIns="0" rtlCol="0" anchor="t">
            <a:spAutoFit/>
          </a:bodyPr>
          <a:lstStyle/>
          <a:p>
            <a:pPr marL="1408430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Filtering and Aggregation</a:t>
            </a:r>
            <a:endParaRPr lang="en-US" sz="4000" b="1" spc="15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3012" y="1243075"/>
            <a:ext cx="9118600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Filtering Applied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Removed: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Null records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Incomplete entries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Duplicate entries 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Aggregation Applied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pPr lvl="7" algn="just"/>
            <a:r>
              <a:rPr lang="en-US" sz="2000" dirty="0">
                <a:latin typeface="Times New Roman"/>
                <a:cs typeface="Times New Roman"/>
              </a:rPr>
              <a:t>Grouped by:</a:t>
            </a:r>
          </a:p>
          <a:p>
            <a:pPr marL="285750" lvl="7" indent="-285750" algn="just">
              <a:buFont typeface="Arial" pitchFamily="34" charset="0"/>
              <a:buChar char="•"/>
            </a:pPr>
            <a:r>
              <a:rPr lang="en-US" sz="2000" dirty="0" err="1">
                <a:latin typeface="Times New Roman"/>
                <a:cs typeface="Times New Roman"/>
              </a:rPr>
              <a:t>Product_Category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</a:p>
          <a:p>
            <a:pPr marL="285750" lvl="7" indent="-285750" algn="just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Year, </a:t>
            </a:r>
            <a:r>
              <a:rPr lang="en-US" sz="2000" dirty="0" err="1">
                <a:latin typeface="Times New Roman"/>
                <a:cs typeface="Times New Roman"/>
              </a:rPr>
              <a:t>Quarter_No</a:t>
            </a:r>
            <a:endParaRPr lang="en-US" sz="2000" dirty="0">
              <a:latin typeface="Times New Roman"/>
              <a:cs typeface="Times New Roman"/>
            </a:endParaRPr>
          </a:p>
          <a:p>
            <a:pPr lvl="7" algn="just"/>
            <a:r>
              <a:rPr lang="en-US" sz="2000" dirty="0">
                <a:latin typeface="Times New Roman"/>
                <a:cs typeface="Times New Roman"/>
              </a:rPr>
              <a:t> </a:t>
            </a:r>
          </a:p>
          <a:p>
            <a:pPr lvl="7" algn="just"/>
            <a:r>
              <a:rPr lang="en-US" sz="2000" dirty="0">
                <a:latin typeface="Times New Roman"/>
                <a:cs typeface="Times New Roman"/>
              </a:rPr>
              <a:t>Calculated:</a:t>
            </a:r>
          </a:p>
          <a:p>
            <a:pPr marL="285750" lvl="7" indent="-285750" algn="just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SUM(Revenue) </a:t>
            </a: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0AFC2C7-F4FC-5AD6-BDC7-DD6502226EC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12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1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F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729" y="-3704"/>
            <a:ext cx="4177029" cy="3843020"/>
            <a:chOff x="24729" y="-3704"/>
            <a:chExt cx="4177029" cy="3843020"/>
          </a:xfrm>
        </p:grpSpPr>
        <p:sp>
          <p:nvSpPr>
            <p:cNvPr id="4" name="object 4"/>
            <p:cNvSpPr/>
            <p:nvPr/>
          </p:nvSpPr>
          <p:spPr>
            <a:xfrm>
              <a:off x="28573" y="139"/>
              <a:ext cx="2440305" cy="3835400"/>
            </a:xfrm>
            <a:custGeom>
              <a:avLst/>
              <a:gdLst/>
              <a:ahLst/>
              <a:cxnLst/>
              <a:rect l="l" t="t" r="r" b="b"/>
              <a:pathLst>
                <a:path w="2440305" h="3835400">
                  <a:moveTo>
                    <a:pt x="0" y="2458277"/>
                  </a:moveTo>
                  <a:lnTo>
                    <a:pt x="1610391" y="1308913"/>
                  </a:lnTo>
                  <a:lnTo>
                    <a:pt x="1715682" y="0"/>
                  </a:lnTo>
                </a:path>
                <a:path w="2440305" h="3835400">
                  <a:moveTo>
                    <a:pt x="0" y="3834872"/>
                  </a:moveTo>
                  <a:lnTo>
                    <a:pt x="1383611" y="3256414"/>
                  </a:lnTo>
                  <a:lnTo>
                    <a:pt x="374436" y="0"/>
                  </a:lnTo>
                </a:path>
                <a:path w="2440305" h="3835400">
                  <a:moveTo>
                    <a:pt x="0" y="3057127"/>
                  </a:moveTo>
                  <a:lnTo>
                    <a:pt x="1866657" y="2443557"/>
                  </a:lnTo>
                  <a:lnTo>
                    <a:pt x="2439748" y="0"/>
                  </a:lnTo>
                </a:path>
              </a:pathLst>
            </a:custGeom>
            <a:ln w="7683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573" y="139"/>
              <a:ext cx="4169410" cy="1553845"/>
            </a:xfrm>
            <a:custGeom>
              <a:avLst/>
              <a:gdLst/>
              <a:ahLst/>
              <a:cxnLst/>
              <a:rect l="l" t="t" r="r" b="b"/>
              <a:pathLst>
                <a:path w="4169410" h="1553845">
                  <a:moveTo>
                    <a:pt x="0" y="1553510"/>
                  </a:moveTo>
                  <a:lnTo>
                    <a:pt x="4169061" y="0"/>
                  </a:lnTo>
                </a:path>
              </a:pathLst>
            </a:custGeom>
            <a:ln w="7688">
              <a:solidFill>
                <a:srgbClr val="E2B0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17517" y="0"/>
            <a:ext cx="6352540" cy="798680"/>
          </a:xfrm>
          <a:prstGeom prst="rect">
            <a:avLst/>
          </a:prstGeom>
        </p:spPr>
        <p:txBody>
          <a:bodyPr vert="horz" wrap="square" lIns="0" tIns="181356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latin typeface="Times New Roman"/>
                <a:cs typeface="Times New Roman"/>
              </a:rPr>
              <a:t>Python Integration</a:t>
            </a:r>
            <a:endParaRPr lang="en-US" sz="4000" b="1" spc="16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2444" y="1377689"/>
            <a:ext cx="9133081" cy="5248873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Python Script 1 — Sales_ Price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Purpose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Handling the outliers using IQR on replacing with null value.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Python Script 2 — </a:t>
            </a:r>
            <a:r>
              <a:rPr lang="en-US" sz="2000" b="1" dirty="0" err="1">
                <a:latin typeface="Times New Roman"/>
                <a:cs typeface="Times New Roman"/>
              </a:rPr>
              <a:t>Sales_ID</a:t>
            </a:r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Purpose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To handle abnormal </a:t>
            </a:r>
            <a:r>
              <a:rPr lang="en-US" sz="2000" dirty="0" err="1">
                <a:latin typeface="Times New Roman"/>
                <a:cs typeface="Times New Roman"/>
              </a:rPr>
              <a:t>Sale_ID</a:t>
            </a:r>
            <a:r>
              <a:rPr lang="en-US" sz="2000" dirty="0">
                <a:latin typeface="Times New Roman"/>
                <a:cs typeface="Times New Roman"/>
              </a:rPr>
              <a:t> values using median.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Python Script 3 — </a:t>
            </a:r>
            <a:r>
              <a:rPr lang="en-US" sz="2000" b="1" dirty="0" err="1">
                <a:latin typeface="Times New Roman"/>
                <a:cs typeface="Times New Roman"/>
              </a:rPr>
              <a:t>Store_Name</a:t>
            </a:r>
            <a:r>
              <a:rPr lang="en-US" sz="2000" b="1" dirty="0">
                <a:latin typeface="Times New Roman"/>
                <a:cs typeface="Times New Roman"/>
              </a:rPr>
              <a:t> 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Purpose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Recover missing </a:t>
            </a:r>
            <a:r>
              <a:rPr lang="en-US" sz="2000" dirty="0" err="1">
                <a:latin typeface="Times New Roman"/>
                <a:cs typeface="Times New Roman"/>
              </a:rPr>
              <a:t>Store_Name</a:t>
            </a:r>
            <a:r>
              <a:rPr lang="en-US" sz="2000" dirty="0">
                <a:latin typeface="Times New Roman"/>
                <a:cs typeface="Times New Roman"/>
              </a:rPr>
              <a:t> values using </a:t>
            </a:r>
            <a:r>
              <a:rPr lang="en-US" sz="2000" dirty="0" err="1">
                <a:latin typeface="Times New Roman"/>
                <a:cs typeface="Times New Roman"/>
              </a:rPr>
              <a:t>Store_ID</a:t>
            </a:r>
            <a:r>
              <a:rPr lang="en-US" sz="2000" dirty="0">
                <a:latin typeface="Times New Roman"/>
                <a:cs typeface="Times New Roman"/>
              </a:rPr>
              <a:t> mapping and mode imputation.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C7C6688D-9C3D-7618-2D7B-40B3FA1459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13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92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2" y="4824"/>
            <a:ext cx="1642297" cy="6853175"/>
          </a:xfrm>
          <a:custGeom>
            <a:avLst/>
            <a:gdLst/>
            <a:ahLst/>
            <a:cxnLst/>
            <a:rect l="l" t="t" r="r" b="b"/>
            <a:pathLst>
              <a:path w="4763135" h="5186680">
                <a:moveTo>
                  <a:pt x="4762563" y="2505075"/>
                </a:moveTo>
                <a:lnTo>
                  <a:pt x="0" y="876300"/>
                </a:lnTo>
              </a:path>
              <a:path w="4763135" h="5186680">
                <a:moveTo>
                  <a:pt x="4762563" y="5186299"/>
                </a:moveTo>
                <a:lnTo>
                  <a:pt x="2638488" y="0"/>
                </a:lnTo>
              </a:path>
            </a:pathLst>
          </a:custGeom>
          <a:ln w="6350">
            <a:solidFill>
              <a:srgbClr val="E2B0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1215" y="595905"/>
            <a:ext cx="6129319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4000" b="1" dirty="0">
                <a:solidFill>
                  <a:schemeClr val="tx1"/>
                </a:solidFill>
                <a:latin typeface="Times New Roman"/>
                <a:cs typeface="Times New Roman"/>
              </a:rPr>
              <a:t>Challenges Faced</a:t>
            </a:r>
            <a:endParaRPr lang="en-US" sz="4000" b="1" spc="24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F1A5E6C2-0BE9-8792-EBB0-773FF9F7FD4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14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9584" y="1478990"/>
            <a:ext cx="9630218" cy="4427493"/>
          </a:xfrm>
          <a:prstGeom prst="rect">
            <a:avLst/>
          </a:prstGeom>
        </p:spPr>
        <p:txBody>
          <a:bodyPr vert="horz" wrap="square" lIns="0" tIns="26034" rIns="0" bIns="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Challenges</a:t>
            </a:r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b="1" dirty="0">
              <a:latin typeface="Times New Roman"/>
              <a:cs typeface="Times New Roman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Handling Schema Issues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Managing Datatype Inconsistencies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Cleaning Invalid Date Formats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Detecting Abnormal Fields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Learnings</a:t>
            </a:r>
          </a:p>
          <a:p>
            <a:endParaRPr lang="en-US" b="1" dirty="0">
              <a:latin typeface="Times New Roman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Learned to perform profiling, cleaning, union, join, filtering, and aggregation operations.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Understood how Python integration can automate preprocessing tasks.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Improved knowledge of handling missing values, duplicates, datatype inconsistencies, and outliers. 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Learned how integrated datasets help generate better business insights.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C9F6CF-87A6-5E62-5C01-56A07CA1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33992B-AC5B-E4EC-85C4-3F6D416E7EF0}"/>
              </a:ext>
            </a:extLst>
          </p:cNvPr>
          <p:cNvSpPr/>
          <p:nvPr/>
        </p:nvSpPr>
        <p:spPr>
          <a:xfrm>
            <a:off x="4763" y="4824"/>
            <a:ext cx="1787462" cy="6853175"/>
          </a:xfrm>
          <a:custGeom>
            <a:avLst/>
            <a:gdLst/>
            <a:ahLst/>
            <a:cxnLst/>
            <a:rect l="l" t="t" r="r" b="b"/>
            <a:pathLst>
              <a:path w="4763135" h="5186680">
                <a:moveTo>
                  <a:pt x="4762563" y="2505075"/>
                </a:moveTo>
                <a:lnTo>
                  <a:pt x="0" y="876300"/>
                </a:lnTo>
              </a:path>
              <a:path w="4763135" h="5186680">
                <a:moveTo>
                  <a:pt x="4762563" y="5186299"/>
                </a:moveTo>
                <a:lnTo>
                  <a:pt x="2638488" y="0"/>
                </a:lnTo>
              </a:path>
            </a:pathLst>
          </a:custGeom>
          <a:ln w="6350">
            <a:solidFill>
              <a:srgbClr val="E2B0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8A77D8E-4749-C313-BD91-E017DD9B20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35466" y="622648"/>
            <a:ext cx="3126741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b="1">
                <a:solidFill>
                  <a:schemeClr val="tx1"/>
                </a:solidFill>
                <a:latin typeface="Times New Roman"/>
                <a:cs typeface="Times New Roman"/>
              </a:rPr>
              <a:t>Conclusion</a:t>
            </a:r>
            <a:endParaRPr lang="en-US" sz="4000" b="1" spc="24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5C951E-87B8-DB1D-E883-BB5D3DB209D0}"/>
              </a:ext>
            </a:extLst>
          </p:cNvPr>
          <p:cNvSpPr txBox="1"/>
          <p:nvPr/>
        </p:nvSpPr>
        <p:spPr>
          <a:xfrm>
            <a:off x="635499" y="1965960"/>
            <a:ext cx="10678677" cy="3719607"/>
          </a:xfrm>
          <a:prstGeom prst="rect">
            <a:avLst/>
          </a:prstGeom>
        </p:spPr>
        <p:txBody>
          <a:bodyPr vert="horz" wrap="square" lIns="0" tIns="26034" rIns="0" bIns="0" rtlCol="0" anchor="t">
            <a:spAutoFit/>
          </a:bodyPr>
          <a:lstStyle/>
          <a:p>
            <a:pPr algn="just"/>
            <a:r>
              <a:rPr lang="en-US" sz="2000" dirty="0">
                <a:latin typeface="Times New Roman"/>
                <a:cs typeface="Times New Roman"/>
              </a:rPr>
              <a:t>This project demonstrated the complete process of transforming raw retail datasets into a clean, structured, and analysis-ready dataset using Tableau Prep and Python integration.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Through data profiling, cleaning, transformation, union, join operations, calculated fields, filtering, aggregation, and automation, we improved overall data quality and reliability.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  <a:p>
            <a:pPr algn="just"/>
            <a:r>
              <a:rPr lang="en-US" sz="2000" dirty="0">
                <a:latin typeface="Times New Roman"/>
                <a:cs typeface="Times New Roman"/>
              </a:rPr>
              <a:t>The final dataset supports accurate reporting, revenue analysis, trend identification, and better business decision-making. The project also provided practical experience in real-world data preprocessing and workflow automation.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pPr algn="just"/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8D026DE5-1BDC-936B-70B2-4B53900DCAA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136376" y="6488392"/>
            <a:ext cx="368300" cy="14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ts val="935"/>
              </a:lnSpc>
            </a:pPr>
            <a:fld id="{81D60167-4931-47E6-BA6A-407CBD079E47}" type="slidenum">
              <a:rPr sz="1800" spc="-50" dirty="0">
                <a:latin typeface="Times New Roman" pitchFamily="18" charset="0"/>
                <a:cs typeface="Times New Roman" pitchFamily="18" charset="0"/>
              </a:rPr>
              <a:t>15</a:t>
            </a:fld>
            <a:endParaRPr sz="1800" spc="-5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0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69" y="5143"/>
            <a:ext cx="3169920" cy="6848475"/>
          </a:xfrm>
          <a:custGeom>
            <a:avLst/>
            <a:gdLst/>
            <a:ahLst/>
            <a:cxnLst/>
            <a:rect l="l" t="t" r="r" b="b"/>
            <a:pathLst>
              <a:path w="3169920" h="6848475">
                <a:moveTo>
                  <a:pt x="3169653" y="4761458"/>
                </a:moveTo>
                <a:lnTo>
                  <a:pt x="3169462" y="4760442"/>
                </a:lnTo>
                <a:lnTo>
                  <a:pt x="3168192" y="4753978"/>
                </a:lnTo>
                <a:lnTo>
                  <a:pt x="3154222" y="4683087"/>
                </a:lnTo>
                <a:lnTo>
                  <a:pt x="3154222" y="4756670"/>
                </a:lnTo>
                <a:lnTo>
                  <a:pt x="2315705" y="5568416"/>
                </a:lnTo>
                <a:lnTo>
                  <a:pt x="2450935" y="4299204"/>
                </a:lnTo>
                <a:lnTo>
                  <a:pt x="2451620" y="4292739"/>
                </a:lnTo>
                <a:lnTo>
                  <a:pt x="2451912" y="4290085"/>
                </a:lnTo>
                <a:lnTo>
                  <a:pt x="2126831" y="4058031"/>
                </a:lnTo>
                <a:lnTo>
                  <a:pt x="2586444" y="3774008"/>
                </a:lnTo>
                <a:lnTo>
                  <a:pt x="2590546" y="3771481"/>
                </a:lnTo>
                <a:lnTo>
                  <a:pt x="2584310" y="3763619"/>
                </a:lnTo>
                <a:lnTo>
                  <a:pt x="2569514" y="3745001"/>
                </a:lnTo>
                <a:lnTo>
                  <a:pt x="2569514" y="3767772"/>
                </a:lnTo>
                <a:lnTo>
                  <a:pt x="2114283" y="4049077"/>
                </a:lnTo>
                <a:lnTo>
                  <a:pt x="2114143" y="4048963"/>
                </a:lnTo>
                <a:lnTo>
                  <a:pt x="2321242" y="3455352"/>
                </a:lnTo>
                <a:lnTo>
                  <a:pt x="2569514" y="3767772"/>
                </a:lnTo>
                <a:lnTo>
                  <a:pt x="2569514" y="3745001"/>
                </a:lnTo>
                <a:lnTo>
                  <a:pt x="2326767" y="3439515"/>
                </a:lnTo>
                <a:lnTo>
                  <a:pt x="2689580" y="2399639"/>
                </a:lnTo>
                <a:lnTo>
                  <a:pt x="2689771" y="2399868"/>
                </a:lnTo>
                <a:lnTo>
                  <a:pt x="3154222" y="4756670"/>
                </a:lnTo>
                <a:lnTo>
                  <a:pt x="3154222" y="4683087"/>
                </a:lnTo>
                <a:lnTo>
                  <a:pt x="2704617" y="2401316"/>
                </a:lnTo>
                <a:lnTo>
                  <a:pt x="2703995" y="2398141"/>
                </a:lnTo>
                <a:lnTo>
                  <a:pt x="2703106" y="2393581"/>
                </a:lnTo>
                <a:lnTo>
                  <a:pt x="2695092" y="2383815"/>
                </a:lnTo>
                <a:lnTo>
                  <a:pt x="2953664" y="1642706"/>
                </a:lnTo>
                <a:lnTo>
                  <a:pt x="2956979" y="1633207"/>
                </a:lnTo>
                <a:lnTo>
                  <a:pt x="2958350" y="1629283"/>
                </a:lnTo>
                <a:lnTo>
                  <a:pt x="2938843" y="1627619"/>
                </a:lnTo>
                <a:lnTo>
                  <a:pt x="2938843" y="1641932"/>
                </a:lnTo>
                <a:lnTo>
                  <a:pt x="2684526" y="2370899"/>
                </a:lnTo>
                <a:lnTo>
                  <a:pt x="2679001" y="2364155"/>
                </a:lnTo>
                <a:lnTo>
                  <a:pt x="2679001" y="2386723"/>
                </a:lnTo>
                <a:lnTo>
                  <a:pt x="2316302" y="3426345"/>
                </a:lnTo>
                <a:lnTo>
                  <a:pt x="749261" y="1454251"/>
                </a:lnTo>
                <a:lnTo>
                  <a:pt x="2003463" y="1561757"/>
                </a:lnTo>
                <a:lnTo>
                  <a:pt x="2679001" y="2386723"/>
                </a:lnTo>
                <a:lnTo>
                  <a:pt x="2679001" y="2364155"/>
                </a:lnTo>
                <a:lnTo>
                  <a:pt x="2023313" y="1563458"/>
                </a:lnTo>
                <a:lnTo>
                  <a:pt x="2938843" y="1641932"/>
                </a:lnTo>
                <a:lnTo>
                  <a:pt x="2938843" y="1627619"/>
                </a:lnTo>
                <a:lnTo>
                  <a:pt x="2010702" y="1548066"/>
                </a:lnTo>
                <a:lnTo>
                  <a:pt x="743013" y="0"/>
                </a:lnTo>
                <a:lnTo>
                  <a:pt x="731989" y="8991"/>
                </a:lnTo>
                <a:lnTo>
                  <a:pt x="1990864" y="1546364"/>
                </a:lnTo>
                <a:lnTo>
                  <a:pt x="737069" y="1438897"/>
                </a:lnTo>
                <a:lnTo>
                  <a:pt x="11150" y="525322"/>
                </a:lnTo>
                <a:lnTo>
                  <a:pt x="0" y="534187"/>
                </a:lnTo>
                <a:lnTo>
                  <a:pt x="717575" y="1437233"/>
                </a:lnTo>
                <a:lnTo>
                  <a:pt x="6184" y="1376248"/>
                </a:lnTo>
                <a:lnTo>
                  <a:pt x="4965" y="1390434"/>
                </a:lnTo>
                <a:lnTo>
                  <a:pt x="729767" y="1452575"/>
                </a:lnTo>
                <a:lnTo>
                  <a:pt x="2310777" y="3442182"/>
                </a:lnTo>
                <a:lnTo>
                  <a:pt x="2102091" y="4040352"/>
                </a:lnTo>
                <a:lnTo>
                  <a:pt x="1088351" y="3316630"/>
                </a:lnTo>
                <a:lnTo>
                  <a:pt x="1230579" y="2767317"/>
                </a:lnTo>
                <a:lnTo>
                  <a:pt x="1232712" y="2759075"/>
                </a:lnTo>
                <a:lnTo>
                  <a:pt x="1233271" y="2756928"/>
                </a:lnTo>
                <a:lnTo>
                  <a:pt x="8636" y="2172335"/>
                </a:lnTo>
                <a:lnTo>
                  <a:pt x="2501" y="2185251"/>
                </a:lnTo>
                <a:lnTo>
                  <a:pt x="1216533" y="2764777"/>
                </a:lnTo>
                <a:lnTo>
                  <a:pt x="1075931" y="3307765"/>
                </a:lnTo>
                <a:lnTo>
                  <a:pt x="9715" y="2546566"/>
                </a:lnTo>
                <a:lnTo>
                  <a:pt x="1435" y="2558097"/>
                </a:lnTo>
                <a:lnTo>
                  <a:pt x="1072121" y="3322497"/>
                </a:lnTo>
                <a:lnTo>
                  <a:pt x="866914" y="4115066"/>
                </a:lnTo>
                <a:lnTo>
                  <a:pt x="698" y="4928501"/>
                </a:lnTo>
                <a:lnTo>
                  <a:pt x="10452" y="4938890"/>
                </a:lnTo>
                <a:lnTo>
                  <a:pt x="879665" y="4122661"/>
                </a:lnTo>
                <a:lnTo>
                  <a:pt x="881100" y="4117086"/>
                </a:lnTo>
                <a:lnTo>
                  <a:pt x="881989" y="4113669"/>
                </a:lnTo>
                <a:lnTo>
                  <a:pt x="1084541" y="3331349"/>
                </a:lnTo>
                <a:lnTo>
                  <a:pt x="2097214" y="4054310"/>
                </a:lnTo>
                <a:lnTo>
                  <a:pt x="2094852" y="4061079"/>
                </a:lnTo>
                <a:lnTo>
                  <a:pt x="1828" y="5354409"/>
                </a:lnTo>
                <a:lnTo>
                  <a:pt x="9321" y="5366563"/>
                </a:lnTo>
                <a:lnTo>
                  <a:pt x="2087410" y="4082389"/>
                </a:lnTo>
                <a:lnTo>
                  <a:pt x="1643189" y="5355717"/>
                </a:lnTo>
                <a:lnTo>
                  <a:pt x="1955" y="6324397"/>
                </a:lnTo>
                <a:lnTo>
                  <a:pt x="9194" y="6336678"/>
                </a:lnTo>
                <a:lnTo>
                  <a:pt x="1654898" y="5365293"/>
                </a:lnTo>
                <a:lnTo>
                  <a:pt x="1657413" y="5358079"/>
                </a:lnTo>
                <a:lnTo>
                  <a:pt x="1658696" y="5354409"/>
                </a:lnTo>
                <a:lnTo>
                  <a:pt x="2106625" y="4070515"/>
                </a:lnTo>
                <a:lnTo>
                  <a:pt x="2113750" y="4066121"/>
                </a:lnTo>
                <a:lnTo>
                  <a:pt x="2436799" y="4296727"/>
                </a:lnTo>
                <a:lnTo>
                  <a:pt x="2299690" y="5583923"/>
                </a:lnTo>
                <a:lnTo>
                  <a:pt x="1004125" y="6838124"/>
                </a:lnTo>
                <a:lnTo>
                  <a:pt x="1014018" y="6848361"/>
                </a:lnTo>
                <a:lnTo>
                  <a:pt x="2297341" y="5605958"/>
                </a:lnTo>
                <a:lnTo>
                  <a:pt x="2165642" y="6842493"/>
                </a:lnTo>
                <a:lnTo>
                  <a:pt x="2179815" y="6844004"/>
                </a:lnTo>
                <a:lnTo>
                  <a:pt x="2313355" y="5590451"/>
                </a:lnTo>
                <a:lnTo>
                  <a:pt x="3169653" y="4761458"/>
                </a:lnTo>
                <a:close/>
              </a:path>
            </a:pathLst>
          </a:custGeom>
          <a:solidFill>
            <a:srgbClr val="C5BD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93768" y="2795905"/>
            <a:ext cx="4324731" cy="632224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4000" spc="165">
                <a:latin typeface="Times New Roman"/>
                <a:cs typeface="Times New Roman"/>
              </a:rPr>
              <a:t>Thank</a:t>
            </a:r>
            <a:r>
              <a:rPr lang="en-US" sz="4000" spc="160">
                <a:latin typeface="Times New Roman"/>
                <a:cs typeface="Times New Roman"/>
              </a:rPr>
              <a:t> </a:t>
            </a:r>
            <a:r>
              <a:rPr lang="en-US" sz="4000" spc="-25">
                <a:latin typeface="Times New Roman"/>
                <a:cs typeface="Times New Roman"/>
              </a:rPr>
              <a:t>You!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9369" y="3332797"/>
            <a:ext cx="180340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822</Words>
  <Application>Microsoft Office PowerPoint</Application>
  <PresentationFormat>Widescreen</PresentationFormat>
  <Paragraphs>227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Objectives</vt:lpstr>
      <vt:lpstr>Data Issues Identified</vt:lpstr>
      <vt:lpstr>PowerPoint Presentation</vt:lpstr>
      <vt:lpstr> Dataset Cleaning</vt:lpstr>
      <vt:lpstr>Standardizing Data Formats</vt:lpstr>
      <vt:lpstr>Union Operation</vt:lpstr>
      <vt:lpstr>Join Operations</vt:lpstr>
      <vt:lpstr>Calculated Fields</vt:lpstr>
      <vt:lpstr>Filtering and Aggregation</vt:lpstr>
      <vt:lpstr>Python Integration</vt:lpstr>
      <vt:lpstr>Challenges Faced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 Bindu N</dc:creator>
  <cp:lastModifiedBy>RAHUL S DEVAGIRI</cp:lastModifiedBy>
  <cp:revision>9</cp:revision>
  <dcterms:created xsi:type="dcterms:W3CDTF">2026-05-10T07:27:19Z</dcterms:created>
  <dcterms:modified xsi:type="dcterms:W3CDTF">2026-05-24T13:32:33Z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2026-05-10T00:00:00Z</vt:filetime>
  </property>
  <property fmtid="{D5CDD505-2E9C-101B-9397-08002B2CF9AE}" pid="3" name="LastSaved">
    <vt:filetime>2026-05-10T00:00:00Z</vt:filetime>
  </property>
</Properties>
</file>